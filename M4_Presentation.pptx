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77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C26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C0C0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W</a:t>
            </a:r>
            <a:r>
              <a:rPr spc="320" dirty="0"/>
              <a:t> </a:t>
            </a:r>
            <a:r>
              <a:rPr spc="-10" dirty="0"/>
              <a:t>NotebaokLM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C26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C0C0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W</a:t>
            </a:r>
            <a:r>
              <a:rPr spc="320" dirty="0"/>
              <a:t> </a:t>
            </a:r>
            <a:r>
              <a:rPr spc="-10" dirty="0"/>
              <a:t>NotebaokLM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0" y="6477000"/>
            <a:ext cx="2730500" cy="279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1800" y="4546600"/>
            <a:ext cx="1384300" cy="1714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0600" y="4724400"/>
            <a:ext cx="660400" cy="13843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49800" y="4610100"/>
            <a:ext cx="1612900" cy="1600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0200" y="4724400"/>
            <a:ext cx="660400" cy="13843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9400" y="4597400"/>
            <a:ext cx="1612900" cy="16129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29800" y="4724400"/>
            <a:ext cx="660400" cy="13843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61700" y="4635500"/>
            <a:ext cx="1600200" cy="15494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979400" y="4724400"/>
            <a:ext cx="660400" cy="13843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414500" y="4978400"/>
            <a:ext cx="1117600" cy="1282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C26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W</a:t>
            </a:r>
            <a:r>
              <a:rPr spc="320" dirty="0"/>
              <a:t> </a:t>
            </a:r>
            <a:r>
              <a:rPr spc="-10" dirty="0"/>
              <a:t>NotebaokLM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C26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W</a:t>
            </a:r>
            <a:r>
              <a:rPr spc="320" dirty="0"/>
              <a:t> </a:t>
            </a:r>
            <a:r>
              <a:rPr spc="-10" dirty="0"/>
              <a:t>NotebaokLM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8026400"/>
            <a:ext cx="15748000" cy="939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600" y="3009900"/>
            <a:ext cx="3759200" cy="4610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4100" y="3009900"/>
            <a:ext cx="3759200" cy="46101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51900" y="3009900"/>
            <a:ext cx="3771900" cy="46101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52400" y="3009900"/>
            <a:ext cx="3759200" cy="4597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W</a:t>
            </a:r>
            <a:r>
              <a:rPr spc="320" dirty="0"/>
              <a:t> </a:t>
            </a:r>
            <a:r>
              <a:rPr spc="-10" dirty="0"/>
              <a:t>NotebaokLM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737" y="245533"/>
            <a:ext cx="15669130" cy="242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C26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50544" y="3044709"/>
            <a:ext cx="7249794" cy="5852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C0C0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14255" y="9455853"/>
            <a:ext cx="122872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W</a:t>
            </a:r>
            <a:r>
              <a:rPr spc="320" dirty="0"/>
              <a:t> </a:t>
            </a:r>
            <a:r>
              <a:rPr spc="-10" dirty="0"/>
              <a:t>NotebaokLM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6794500"/>
            <a:ext cx="10210800" cy="16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2100" y="1981200"/>
            <a:ext cx="635000" cy="749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27000" y="927100"/>
            <a:ext cx="3695700" cy="7493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03300" y="6792383"/>
            <a:ext cx="10202545" cy="0"/>
          </a:xfrm>
          <a:custGeom>
            <a:avLst/>
            <a:gdLst/>
            <a:ahLst/>
            <a:cxnLst/>
            <a:rect l="l" t="t" r="r" b="b"/>
            <a:pathLst>
              <a:path w="10202545">
                <a:moveTo>
                  <a:pt x="0" y="0"/>
                </a:moveTo>
                <a:lnTo>
                  <a:pt x="10202333" y="0"/>
                </a:lnTo>
              </a:path>
            </a:pathLst>
          </a:custGeom>
          <a:ln w="4233">
            <a:solidFill>
              <a:srgbClr val="18A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46362" y="596547"/>
            <a:ext cx="890524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dirty="0">
                <a:solidFill>
                  <a:srgbClr val="051C3B"/>
                </a:solidFill>
              </a:rPr>
              <a:t>Product</a:t>
            </a:r>
            <a:r>
              <a:rPr sz="8400" spc="165" dirty="0">
                <a:solidFill>
                  <a:srgbClr val="051C3B"/>
                </a:solidFill>
              </a:rPr>
              <a:t> </a:t>
            </a:r>
            <a:r>
              <a:rPr sz="8400" spc="-10" dirty="0">
                <a:solidFill>
                  <a:srgbClr val="051C3D"/>
                </a:solidFill>
              </a:rPr>
              <a:t>Sentiment</a:t>
            </a:r>
            <a:endParaRPr sz="8400"/>
          </a:p>
        </p:txBody>
      </p:sp>
      <p:sp>
        <p:nvSpPr>
          <p:cNvPr id="7" name="object 7"/>
          <p:cNvSpPr txBox="1"/>
          <p:nvPr/>
        </p:nvSpPr>
        <p:spPr>
          <a:xfrm>
            <a:off x="979454" y="1646766"/>
            <a:ext cx="8879205" cy="1295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219700" algn="l"/>
              </a:tabLst>
            </a:pPr>
            <a:r>
              <a:rPr sz="8300" spc="105" dirty="0">
                <a:solidFill>
                  <a:srgbClr val="071C38"/>
                </a:solidFill>
                <a:latin typeface="Arial MT"/>
                <a:cs typeface="Arial MT"/>
              </a:rPr>
              <a:t>Analysis</a:t>
            </a:r>
            <a:r>
              <a:rPr sz="8300" dirty="0">
                <a:solidFill>
                  <a:srgbClr val="071C38"/>
                </a:solidFill>
                <a:latin typeface="Arial MT"/>
                <a:cs typeface="Arial MT"/>
              </a:rPr>
              <a:t>	</a:t>
            </a:r>
            <a:r>
              <a:rPr sz="8300" spc="-10" dirty="0">
                <a:solidFill>
                  <a:srgbClr val="051A38"/>
                </a:solidFill>
                <a:latin typeface="Arial MT"/>
                <a:cs typeface="Arial MT"/>
              </a:rPr>
              <a:t>Feature</a:t>
            </a:r>
            <a:endParaRPr sz="8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198" y="2703335"/>
            <a:ext cx="4484370" cy="1285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250" spc="-95" dirty="0">
                <a:solidFill>
                  <a:srgbClr val="071D3D"/>
                </a:solidFill>
                <a:latin typeface="Arial MT"/>
                <a:cs typeface="Arial MT"/>
              </a:rPr>
              <a:t>Roadmap</a:t>
            </a:r>
            <a:endParaRPr sz="8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362" y="3435240"/>
            <a:ext cx="7855584" cy="300355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8400" spc="215" dirty="0">
                <a:solidFill>
                  <a:srgbClr val="081C3B"/>
                </a:solidFill>
                <a:latin typeface="Arial MT"/>
                <a:cs typeface="Arial MT"/>
              </a:rPr>
              <a:t>Prioritization</a:t>
            </a:r>
            <a:endParaRPr sz="8400">
              <a:latin typeface="Arial MT"/>
              <a:cs typeface="Arial MT"/>
            </a:endParaRPr>
          </a:p>
          <a:p>
            <a:pPr marL="78740" marR="5080" indent="1270">
              <a:lnSpc>
                <a:spcPts val="4900"/>
              </a:lnSpc>
              <a:spcBef>
                <a:spcPts val="1415"/>
              </a:spcBef>
              <a:tabLst>
                <a:tab pos="2627630" algn="l"/>
              </a:tabLst>
            </a:pPr>
            <a:r>
              <a:rPr sz="4200" spc="-10" dirty="0">
                <a:solidFill>
                  <a:srgbClr val="5D5D5D"/>
                </a:solidFill>
                <a:latin typeface="Arial MT"/>
                <a:cs typeface="Arial MT"/>
              </a:rPr>
              <a:t>Milestone</a:t>
            </a:r>
            <a:r>
              <a:rPr sz="4200" dirty="0">
                <a:solidFill>
                  <a:srgbClr val="5D5D5D"/>
                </a:solidFill>
                <a:latin typeface="Arial MT"/>
                <a:cs typeface="Arial MT"/>
              </a:rPr>
              <a:t>	</a:t>
            </a:r>
            <a:r>
              <a:rPr sz="4200" dirty="0">
                <a:solidFill>
                  <a:srgbClr val="626262"/>
                </a:solidFill>
                <a:latin typeface="Arial MT"/>
                <a:cs typeface="Arial MT"/>
              </a:rPr>
              <a:t>4</a:t>
            </a:r>
            <a:r>
              <a:rPr sz="4200" spc="-25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4200" spc="-2230" dirty="0">
                <a:solidFill>
                  <a:srgbClr val="5B5B5B"/>
                </a:solidFill>
                <a:latin typeface="Arial MT"/>
                <a:cs typeface="Arial MT"/>
              </a:rPr>
              <a:t>—</a:t>
            </a:r>
            <a:r>
              <a:rPr sz="4200" spc="4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4200" dirty="0">
                <a:solidFill>
                  <a:srgbClr val="606060"/>
                </a:solidFill>
                <a:latin typeface="Arial MT"/>
                <a:cs typeface="Arial MT"/>
              </a:rPr>
              <a:t>A/B</a:t>
            </a:r>
            <a:r>
              <a:rPr sz="4200" spc="-30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4200" dirty="0">
                <a:solidFill>
                  <a:srgbClr val="5B5B5B"/>
                </a:solidFill>
                <a:latin typeface="Arial MT"/>
                <a:cs typeface="Arial MT"/>
              </a:rPr>
              <a:t>Test</a:t>
            </a:r>
            <a:r>
              <a:rPr sz="4200" spc="18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4200" dirty="0">
                <a:solidFill>
                  <a:srgbClr val="5E5E5E"/>
                </a:solidFill>
                <a:latin typeface="Arial MT"/>
                <a:cs typeface="Arial MT"/>
              </a:rPr>
              <a:t>Design</a:t>
            </a:r>
            <a:r>
              <a:rPr sz="4200" spc="15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4200" spc="-390" dirty="0">
                <a:solidFill>
                  <a:srgbClr val="646464"/>
                </a:solidFill>
                <a:latin typeface="Arial MT"/>
                <a:cs typeface="Arial MT"/>
              </a:rPr>
              <a:t>&amp; </a:t>
            </a:r>
            <a:r>
              <a:rPr sz="4200" dirty="0">
                <a:solidFill>
                  <a:srgbClr val="5D5D5D"/>
                </a:solidFill>
                <a:latin typeface="Arial MT"/>
                <a:cs typeface="Arial MT"/>
              </a:rPr>
              <a:t>Product</a:t>
            </a:r>
            <a:r>
              <a:rPr sz="4200" spc="42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4200" spc="-10" dirty="0">
                <a:solidFill>
                  <a:srgbClr val="606060"/>
                </a:solidFill>
                <a:latin typeface="Arial MT"/>
                <a:cs typeface="Arial MT"/>
              </a:rPr>
              <a:t>Dashboard</a:t>
            </a:r>
            <a:endParaRPr sz="4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6669" y="7236369"/>
            <a:ext cx="9647555" cy="109664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570"/>
              </a:spcBef>
            </a:pPr>
            <a:r>
              <a:rPr sz="3200" spc="-30" dirty="0">
                <a:solidFill>
                  <a:srgbClr val="03132D"/>
                </a:solidFill>
                <a:latin typeface="Arial MT"/>
                <a:cs typeface="Arial MT"/>
              </a:rPr>
              <a:t>App:</a:t>
            </a:r>
            <a:r>
              <a:rPr sz="3200" spc="-195" dirty="0">
                <a:solidFill>
                  <a:srgbClr val="03132D"/>
                </a:solidFill>
                <a:latin typeface="Arial MT"/>
                <a:cs typeface="Arial MT"/>
              </a:rPr>
              <a:t> </a:t>
            </a:r>
            <a:r>
              <a:rPr sz="3200" spc="-55" dirty="0">
                <a:solidFill>
                  <a:srgbClr val="0F0F0F"/>
                </a:solidFill>
                <a:latin typeface="Arial MT"/>
                <a:cs typeface="Arial MT"/>
              </a:rPr>
              <a:t>FitLife</a:t>
            </a:r>
            <a:r>
              <a:rPr sz="3200" spc="-1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200" spc="-1730" dirty="0">
                <a:solidFill>
                  <a:srgbClr val="0C0C0C"/>
                </a:solidFill>
                <a:latin typeface="Arial MT"/>
                <a:cs typeface="Arial MT"/>
              </a:rPr>
              <a:t>—</a:t>
            </a:r>
            <a:r>
              <a:rPr sz="3200" spc="-15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200" spc="-70" dirty="0">
                <a:solidFill>
                  <a:srgbClr val="131313"/>
                </a:solidFill>
                <a:latin typeface="Arial MT"/>
                <a:cs typeface="Arial MT"/>
              </a:rPr>
              <a:t>Health</a:t>
            </a:r>
            <a:r>
              <a:rPr sz="3200" spc="-1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3200" spc="-300" dirty="0">
                <a:solidFill>
                  <a:srgbClr val="05132A"/>
                </a:solidFill>
                <a:latin typeface="Arial MT"/>
                <a:cs typeface="Arial MT"/>
              </a:rPr>
              <a:t>&amp;</a:t>
            </a:r>
            <a:r>
              <a:rPr sz="3200" spc="-70" dirty="0">
                <a:solidFill>
                  <a:srgbClr val="05132A"/>
                </a:solidFill>
                <a:latin typeface="Arial MT"/>
                <a:cs typeface="Arial MT"/>
              </a:rPr>
              <a:t> </a:t>
            </a:r>
            <a:r>
              <a:rPr sz="3200" spc="-80" dirty="0">
                <a:solidFill>
                  <a:srgbClr val="0F0F0F"/>
                </a:solidFill>
                <a:latin typeface="Arial MT"/>
                <a:cs typeface="Arial MT"/>
              </a:rPr>
              <a:t>Fitness</a:t>
            </a:r>
            <a:r>
              <a:rPr sz="3200" spc="-1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200" spc="-40" dirty="0">
                <a:solidFill>
                  <a:srgbClr val="0C0C0C"/>
                </a:solidFill>
                <a:latin typeface="Arial MT"/>
                <a:cs typeface="Arial MT"/>
              </a:rPr>
              <a:t>Mobile</a:t>
            </a:r>
            <a:r>
              <a:rPr sz="3200" spc="-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11126"/>
                </a:solidFill>
                <a:latin typeface="Arial MT"/>
                <a:cs typeface="Arial MT"/>
              </a:rPr>
              <a:t>App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050" dirty="0">
                <a:solidFill>
                  <a:srgbClr val="071831"/>
                </a:solidFill>
                <a:latin typeface="Arial MT"/>
                <a:cs typeface="Arial MT"/>
              </a:rPr>
              <a:t>Course:</a:t>
            </a:r>
            <a:r>
              <a:rPr sz="3050" spc="-215" dirty="0">
                <a:solidFill>
                  <a:srgbClr val="071831"/>
                </a:solidFill>
                <a:latin typeface="Arial MT"/>
                <a:cs typeface="Arial MT"/>
              </a:rPr>
              <a:t> </a:t>
            </a:r>
            <a:r>
              <a:rPr sz="3050" spc="-35" dirty="0">
                <a:solidFill>
                  <a:srgbClr val="151515"/>
                </a:solidFill>
                <a:latin typeface="Arial MT"/>
                <a:cs typeface="Arial MT"/>
              </a:rPr>
              <a:t>DA</a:t>
            </a:r>
            <a:r>
              <a:rPr sz="3050" spc="1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3050" spc="-85" dirty="0">
                <a:solidFill>
                  <a:srgbClr val="131313"/>
                </a:solidFill>
                <a:latin typeface="Arial MT"/>
                <a:cs typeface="Arial MT"/>
              </a:rPr>
              <a:t>401</a:t>
            </a:r>
            <a:r>
              <a:rPr sz="3050" spc="-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3050" spc="-1560" dirty="0">
                <a:solidFill>
                  <a:srgbClr val="0F0F0F"/>
                </a:solidFill>
                <a:latin typeface="Arial MT"/>
                <a:cs typeface="Arial MT"/>
              </a:rPr>
              <a:t>—</a:t>
            </a:r>
            <a:r>
              <a:rPr sz="305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E0E0E"/>
                </a:solidFill>
                <a:latin typeface="Arial MT"/>
                <a:cs typeface="Arial MT"/>
              </a:rPr>
              <a:t>Minor</a:t>
            </a:r>
            <a:r>
              <a:rPr sz="3050" spc="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3050" spc="-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0C0C0C"/>
                </a:solidFill>
                <a:latin typeface="Arial MT"/>
                <a:cs typeface="Arial MT"/>
              </a:rPr>
              <a:t>Business</a:t>
            </a:r>
            <a:r>
              <a:rPr sz="3050" spc="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F0F0F"/>
                </a:solidFill>
                <a:latin typeface="Arial MT"/>
                <a:cs typeface="Arial MT"/>
              </a:rPr>
              <a:t>Analytics,</a:t>
            </a:r>
            <a:r>
              <a:rPr sz="3050" spc="-7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E0E0E"/>
                </a:solidFill>
                <a:latin typeface="Arial MT"/>
                <a:cs typeface="Arial MT"/>
              </a:rPr>
              <a:t>IIT</a:t>
            </a:r>
            <a:r>
              <a:rPr sz="3050" spc="-2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0C0C0C"/>
                </a:solidFill>
                <a:latin typeface="Arial MT"/>
                <a:cs typeface="Arial MT"/>
              </a:rPr>
              <a:t>Mandi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97888" y="4373033"/>
            <a:ext cx="72263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95" dirty="0">
                <a:solidFill>
                  <a:srgbClr val="1DAF8C"/>
                </a:solidFill>
                <a:latin typeface="Arial MT"/>
                <a:cs typeface="Arial MT"/>
              </a:rPr>
              <a:t>85%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28600" y="8522405"/>
            <a:ext cx="4336679" cy="31200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58800" algn="r">
              <a:lnSpc>
                <a:spcPct val="91900"/>
              </a:lnSpc>
              <a:spcBef>
                <a:spcPts val="280"/>
              </a:spcBef>
            </a:pPr>
            <a:r>
              <a:rPr sz="1950" spc="-10" dirty="0">
                <a:solidFill>
                  <a:srgbClr val="0F0F0F"/>
                </a:solidFill>
                <a:latin typeface="Arial MT"/>
                <a:cs typeface="Arial MT"/>
              </a:rPr>
              <a:t>Presented</a:t>
            </a:r>
            <a:r>
              <a:rPr sz="195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C0C0C"/>
                </a:solidFill>
                <a:latin typeface="Arial MT"/>
                <a:cs typeface="Arial MT"/>
              </a:rPr>
              <a:t>by:</a:t>
            </a:r>
            <a:r>
              <a:rPr sz="1950" spc="-1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950" spc="-30" dirty="0">
                <a:solidFill>
                  <a:srgbClr val="131313"/>
                </a:solidFill>
                <a:latin typeface="Arial MT"/>
                <a:cs typeface="Arial MT"/>
              </a:rPr>
              <a:t>[</a:t>
            </a:r>
            <a:r>
              <a:rPr lang="en-US" sz="1950" spc="-30" dirty="0">
                <a:solidFill>
                  <a:srgbClr val="131313"/>
                </a:solidFill>
                <a:latin typeface="Arial MT"/>
                <a:cs typeface="Arial MT"/>
              </a:rPr>
              <a:t>Mintu Kumar</a:t>
            </a:r>
            <a:r>
              <a:rPr sz="1950" spc="-30" dirty="0">
                <a:solidFill>
                  <a:srgbClr val="131313"/>
                </a:solidFill>
                <a:latin typeface="Arial MT"/>
                <a:cs typeface="Arial MT"/>
              </a:rPr>
              <a:t>]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700" y="482600"/>
            <a:ext cx="12001500" cy="8788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0232" y="437091"/>
            <a:ext cx="9483090" cy="153035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55930" marR="5080" indent="-443865">
              <a:lnSpc>
                <a:spcPts val="5600"/>
              </a:lnSpc>
              <a:spcBef>
                <a:spcPts val="825"/>
              </a:spcBef>
            </a:pPr>
            <a:r>
              <a:rPr sz="5200" dirty="0">
                <a:solidFill>
                  <a:srgbClr val="082342"/>
                </a:solidFill>
              </a:rPr>
              <a:t>High</a:t>
            </a:r>
            <a:r>
              <a:rPr sz="5200" spc="-10" dirty="0">
                <a:solidFill>
                  <a:srgbClr val="082342"/>
                </a:solidFill>
              </a:rPr>
              <a:t> </a:t>
            </a:r>
            <a:r>
              <a:rPr sz="5200" dirty="0">
                <a:solidFill>
                  <a:srgbClr val="08213F"/>
                </a:solidFill>
              </a:rPr>
              <a:t>Acquisition,</a:t>
            </a:r>
            <a:r>
              <a:rPr sz="5200" spc="-20" dirty="0">
                <a:solidFill>
                  <a:srgbClr val="08213F"/>
                </a:solidFill>
              </a:rPr>
              <a:t> </a:t>
            </a:r>
            <a:r>
              <a:rPr sz="5200" spc="-40" dirty="0">
                <a:solidFill>
                  <a:srgbClr val="082646"/>
                </a:solidFill>
              </a:rPr>
              <a:t>Low</a:t>
            </a:r>
            <a:r>
              <a:rPr sz="5200" spc="-114" dirty="0">
                <a:solidFill>
                  <a:srgbClr val="082646"/>
                </a:solidFill>
              </a:rPr>
              <a:t> </a:t>
            </a:r>
            <a:r>
              <a:rPr sz="5200" spc="-20" dirty="0">
                <a:solidFill>
                  <a:srgbClr val="0A264B"/>
                </a:solidFill>
              </a:rPr>
              <a:t>Retention: </a:t>
            </a:r>
            <a:r>
              <a:rPr sz="5200" spc="-20" dirty="0">
                <a:solidFill>
                  <a:srgbClr val="082442"/>
                </a:solidFill>
              </a:rPr>
              <a:t>The</a:t>
            </a:r>
            <a:r>
              <a:rPr sz="5200" spc="-295" dirty="0">
                <a:solidFill>
                  <a:srgbClr val="082442"/>
                </a:solidFill>
              </a:rPr>
              <a:t> </a:t>
            </a:r>
            <a:r>
              <a:rPr sz="5200" spc="-30" dirty="0">
                <a:solidFill>
                  <a:srgbClr val="0C2846"/>
                </a:solidFill>
              </a:rPr>
              <a:t>’Leaky</a:t>
            </a:r>
            <a:r>
              <a:rPr sz="5200" spc="-215" dirty="0">
                <a:solidFill>
                  <a:srgbClr val="0C2846"/>
                </a:solidFill>
              </a:rPr>
              <a:t> </a:t>
            </a:r>
            <a:r>
              <a:rPr sz="5200" dirty="0">
                <a:solidFill>
                  <a:srgbClr val="081F3B"/>
                </a:solidFill>
              </a:rPr>
              <a:t>Bucket’</a:t>
            </a:r>
            <a:r>
              <a:rPr sz="5200" spc="-275" dirty="0">
                <a:solidFill>
                  <a:srgbClr val="081F3B"/>
                </a:solidFill>
              </a:rPr>
              <a:t> </a:t>
            </a:r>
            <a:r>
              <a:rPr sz="5200" spc="-10" dirty="0">
                <a:solidFill>
                  <a:srgbClr val="0A2344"/>
                </a:solidFill>
              </a:rPr>
              <a:t>Challenge</a:t>
            </a:r>
            <a:endParaRPr sz="5200"/>
          </a:p>
        </p:txBody>
      </p:sp>
      <p:sp>
        <p:nvSpPr>
          <p:cNvPr id="4" name="object 4"/>
          <p:cNvSpPr txBox="1"/>
          <p:nvPr/>
        </p:nvSpPr>
        <p:spPr>
          <a:xfrm>
            <a:off x="1384274" y="6634339"/>
            <a:ext cx="3775075" cy="194310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802640">
              <a:lnSpc>
                <a:spcPct val="100000"/>
              </a:lnSpc>
              <a:spcBef>
                <a:spcPts val="1510"/>
              </a:spcBef>
            </a:pPr>
            <a:r>
              <a:rPr sz="3300" spc="-50" dirty="0">
                <a:solidFill>
                  <a:srgbClr val="081D3B"/>
                </a:solidFill>
                <a:latin typeface="Arial MT"/>
                <a:cs typeface="Arial MT"/>
              </a:rPr>
              <a:t>The</a:t>
            </a:r>
            <a:r>
              <a:rPr sz="3300" spc="-200" dirty="0">
                <a:solidFill>
                  <a:srgbClr val="081D3B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A2442"/>
                </a:solidFill>
                <a:latin typeface="Arial MT"/>
                <a:cs typeface="Arial MT"/>
              </a:rPr>
              <a:t>Paradox</a:t>
            </a:r>
            <a:endParaRPr sz="3300">
              <a:latin typeface="Arial MT"/>
              <a:cs typeface="Arial MT"/>
            </a:endParaRPr>
          </a:p>
          <a:p>
            <a:pPr marL="118745" marR="5080" indent="-106680" algn="just">
              <a:lnSpc>
                <a:spcPts val="2850"/>
              </a:lnSpc>
              <a:spcBef>
                <a:spcPts val="1260"/>
              </a:spcBef>
            </a:pPr>
            <a:r>
              <a:rPr sz="2500" dirty="0">
                <a:latin typeface="Arial MT"/>
                <a:cs typeface="Arial MT"/>
              </a:rPr>
              <a:t>High</a:t>
            </a:r>
            <a:r>
              <a:rPr sz="2500" spc="-175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Average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Rating</a:t>
            </a:r>
            <a:r>
              <a:rPr sz="2500" spc="-95" dirty="0">
                <a:latin typeface="Arial MT"/>
                <a:cs typeface="Arial MT"/>
              </a:rPr>
              <a:t> (4.1/5) </a:t>
            </a:r>
            <a:r>
              <a:rPr sz="2500" spc="-35" dirty="0">
                <a:latin typeface="Arial MT"/>
                <a:cs typeface="Arial MT"/>
              </a:rPr>
              <a:t>masks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deep</a:t>
            </a:r>
            <a:r>
              <a:rPr sz="2500" spc="-1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churn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drivers </a:t>
            </a:r>
            <a:r>
              <a:rPr sz="2400" dirty="0">
                <a:latin typeface="Arial MT"/>
                <a:cs typeface="Arial MT"/>
              </a:rPr>
              <a:t>found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60" dirty="0">
                <a:latin typeface="Arial MT"/>
                <a:cs typeface="Arial MT"/>
              </a:rPr>
              <a:t>in</a:t>
            </a:r>
            <a:r>
              <a:rPr sz="2400" spc="-175" dirty="0">
                <a:latin typeface="Arial MT"/>
                <a:cs typeface="Arial MT"/>
              </a:rPr>
              <a:t> </a:t>
            </a:r>
            <a:r>
              <a:rPr sz="2400" spc="-570" dirty="0">
                <a:latin typeface="Arial MT"/>
                <a:cs typeface="Arial MT"/>
              </a:rPr>
              <a:t>1—</a:t>
            </a:r>
            <a:r>
              <a:rPr sz="2400" spc="-405" dirty="0">
                <a:latin typeface="Arial MT"/>
                <a:cs typeface="Arial MT"/>
              </a:rPr>
              <a:t>2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reviews.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60807" y="4291894"/>
            <a:ext cx="2134235" cy="9232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145415">
              <a:lnSpc>
                <a:spcPts val="3400"/>
              </a:lnSpc>
              <a:spcBef>
                <a:spcPts val="434"/>
              </a:spcBef>
            </a:pPr>
            <a:r>
              <a:rPr sz="3050" spc="-10" dirty="0">
                <a:solidFill>
                  <a:srgbClr val="071F3B"/>
                </a:solidFill>
                <a:latin typeface="Arial MT"/>
                <a:cs typeface="Arial MT"/>
              </a:rPr>
              <a:t>Benchmark </a:t>
            </a:r>
            <a:r>
              <a:rPr sz="3050" spc="-10" dirty="0">
                <a:solidFill>
                  <a:srgbClr val="071F3F"/>
                </a:solidFill>
                <a:latin typeface="Arial MT"/>
                <a:cs typeface="Arial MT"/>
              </a:rPr>
              <a:t>Target: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2635" y="6634339"/>
            <a:ext cx="4641850" cy="1945005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510"/>
              </a:spcBef>
            </a:pPr>
            <a:r>
              <a:rPr sz="3300" spc="-50" dirty="0">
                <a:solidFill>
                  <a:srgbClr val="0A1F3B"/>
                </a:solidFill>
                <a:latin typeface="Arial MT"/>
                <a:cs typeface="Arial MT"/>
              </a:rPr>
              <a:t>The</a:t>
            </a:r>
            <a:r>
              <a:rPr sz="3300" spc="-210" dirty="0">
                <a:solidFill>
                  <a:srgbClr val="0A1F3B"/>
                </a:solidFill>
                <a:latin typeface="Arial MT"/>
                <a:cs typeface="Arial MT"/>
              </a:rPr>
              <a:t> </a:t>
            </a:r>
            <a:r>
              <a:rPr sz="3300" spc="50" dirty="0">
                <a:solidFill>
                  <a:srgbClr val="071C36"/>
                </a:solidFill>
                <a:latin typeface="Arial MT"/>
                <a:cs typeface="Arial MT"/>
              </a:rPr>
              <a:t>Conflict</a:t>
            </a:r>
            <a:endParaRPr sz="3300">
              <a:latin typeface="Arial MT"/>
              <a:cs typeface="Arial MT"/>
            </a:endParaRPr>
          </a:p>
          <a:p>
            <a:pPr marL="12700" marR="5080" indent="11430" algn="ctr">
              <a:lnSpc>
                <a:spcPts val="2850"/>
              </a:lnSpc>
              <a:spcBef>
                <a:spcPts val="1260"/>
              </a:spcBef>
            </a:pPr>
            <a:r>
              <a:rPr sz="2500" spc="-45" dirty="0">
                <a:latin typeface="Arial MT"/>
                <a:cs typeface="Arial MT"/>
              </a:rPr>
              <a:t>Users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demand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features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(Offline Mode,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55" dirty="0">
                <a:latin typeface="Arial MT"/>
                <a:cs typeface="Arial MT"/>
              </a:rPr>
              <a:t>Wearable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Sync)</a:t>
            </a:r>
            <a:r>
              <a:rPr sz="2500" spc="-35" dirty="0">
                <a:latin typeface="Arial MT"/>
                <a:cs typeface="Arial MT"/>
              </a:rPr>
              <a:t> exceeding </a:t>
            </a:r>
            <a:r>
              <a:rPr sz="2500" dirty="0">
                <a:latin typeface="Arial MT"/>
                <a:cs typeface="Arial MT"/>
              </a:rPr>
              <a:t>current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engineering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capacity.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72118" y="6634339"/>
            <a:ext cx="4085590" cy="1945005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1510"/>
              </a:spcBef>
            </a:pPr>
            <a:r>
              <a:rPr sz="3300" spc="-50" dirty="0">
                <a:solidFill>
                  <a:srgbClr val="0C2442"/>
                </a:solidFill>
                <a:latin typeface="Arial MT"/>
                <a:cs typeface="Arial MT"/>
              </a:rPr>
              <a:t>The</a:t>
            </a:r>
            <a:r>
              <a:rPr sz="3300" spc="-204" dirty="0">
                <a:solidFill>
                  <a:srgbClr val="0C2442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A2342"/>
                </a:solidFill>
                <a:latin typeface="Arial MT"/>
                <a:cs typeface="Arial MT"/>
              </a:rPr>
              <a:t>Objective</a:t>
            </a:r>
            <a:endParaRPr sz="3300">
              <a:latin typeface="Arial MT"/>
              <a:cs typeface="Arial MT"/>
            </a:endParaRPr>
          </a:p>
          <a:p>
            <a:pPr marL="12700" marR="5080" indent="3810" algn="ctr">
              <a:lnSpc>
                <a:spcPts val="2850"/>
              </a:lnSpc>
              <a:spcBef>
                <a:spcPts val="1260"/>
              </a:spcBef>
            </a:pPr>
            <a:r>
              <a:rPr sz="2500" spc="-40" dirty="0">
                <a:latin typeface="Arial MT"/>
                <a:cs typeface="Arial MT"/>
              </a:rPr>
              <a:t>Use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110" dirty="0">
                <a:latin typeface="Arial MT"/>
                <a:cs typeface="Arial MT"/>
              </a:rPr>
              <a:t>NLP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&amp;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Statistical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Testing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prioritize</a:t>
            </a:r>
            <a:r>
              <a:rPr sz="2500" spc="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single</a:t>
            </a:r>
            <a:r>
              <a:rPr sz="2500" spc="20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feature </a:t>
            </a:r>
            <a:r>
              <a:rPr sz="2500" dirty="0">
                <a:latin typeface="Arial MT"/>
                <a:cs typeface="Arial MT"/>
              </a:rPr>
              <a:t>that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drives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retention.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5475" y="381705"/>
            <a:ext cx="11818620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00" spc="-300" dirty="0">
                <a:solidFill>
                  <a:srgbClr val="072844"/>
                </a:solidFill>
              </a:rPr>
              <a:t>From</a:t>
            </a:r>
            <a:r>
              <a:rPr sz="5700" spc="-490" dirty="0">
                <a:solidFill>
                  <a:srgbClr val="072844"/>
                </a:solidFill>
              </a:rPr>
              <a:t> </a:t>
            </a:r>
            <a:r>
              <a:rPr sz="5700" spc="-459" dirty="0">
                <a:solidFill>
                  <a:srgbClr val="011C38"/>
                </a:solidFill>
              </a:rPr>
              <a:t>Raw</a:t>
            </a:r>
            <a:r>
              <a:rPr sz="5700" spc="-210" dirty="0">
                <a:solidFill>
                  <a:srgbClr val="011C38"/>
                </a:solidFill>
              </a:rPr>
              <a:t> </a:t>
            </a:r>
            <a:r>
              <a:rPr sz="5700" spc="-285" dirty="0">
                <a:solidFill>
                  <a:srgbClr val="051F3D"/>
                </a:solidFill>
              </a:rPr>
              <a:t>Text</a:t>
            </a:r>
            <a:r>
              <a:rPr sz="5700" spc="-220" dirty="0">
                <a:solidFill>
                  <a:srgbClr val="051F3D"/>
                </a:solidFill>
              </a:rPr>
              <a:t> </a:t>
            </a:r>
            <a:r>
              <a:rPr sz="5700" spc="65" dirty="0">
                <a:solidFill>
                  <a:srgbClr val="011C36"/>
                </a:solidFill>
              </a:rPr>
              <a:t>to</a:t>
            </a:r>
            <a:r>
              <a:rPr sz="5700" spc="-470" dirty="0">
                <a:solidFill>
                  <a:srgbClr val="011C36"/>
                </a:solidFill>
              </a:rPr>
              <a:t> </a:t>
            </a:r>
            <a:r>
              <a:rPr sz="5700" spc="-145" dirty="0">
                <a:solidFill>
                  <a:srgbClr val="012449"/>
                </a:solidFill>
              </a:rPr>
              <a:t>Quantifiable</a:t>
            </a:r>
            <a:r>
              <a:rPr sz="5700" spc="-180" dirty="0">
                <a:solidFill>
                  <a:srgbClr val="012449"/>
                </a:solidFill>
              </a:rPr>
              <a:t> </a:t>
            </a:r>
            <a:r>
              <a:rPr sz="5700" spc="-60" dirty="0">
                <a:solidFill>
                  <a:srgbClr val="011834"/>
                </a:solidFill>
              </a:rPr>
              <a:t>Strategy</a:t>
            </a:r>
            <a:endParaRPr sz="5700"/>
          </a:p>
        </p:txBody>
      </p:sp>
      <p:sp>
        <p:nvSpPr>
          <p:cNvPr id="3" name="object 3"/>
          <p:cNvSpPr txBox="1"/>
          <p:nvPr/>
        </p:nvSpPr>
        <p:spPr>
          <a:xfrm>
            <a:off x="1047517" y="2544223"/>
            <a:ext cx="2651760" cy="136334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3250" spc="-200" dirty="0">
                <a:solidFill>
                  <a:srgbClr val="031C33"/>
                </a:solidFill>
                <a:latin typeface="Arial MT"/>
                <a:cs typeface="Arial MT"/>
              </a:rPr>
              <a:t>Data</a:t>
            </a:r>
            <a:r>
              <a:rPr sz="3250" spc="-120" dirty="0">
                <a:solidFill>
                  <a:srgbClr val="031C33"/>
                </a:solidFill>
                <a:latin typeface="Arial MT"/>
                <a:cs typeface="Arial MT"/>
              </a:rPr>
              <a:t> </a:t>
            </a:r>
            <a:r>
              <a:rPr sz="3250" spc="-55" dirty="0">
                <a:solidFill>
                  <a:srgbClr val="00182D"/>
                </a:solidFill>
                <a:latin typeface="Arial MT"/>
                <a:cs typeface="Arial MT"/>
              </a:rPr>
              <a:t>Extraction</a:t>
            </a:r>
            <a:endParaRPr sz="3250">
              <a:latin typeface="Arial MT"/>
              <a:cs typeface="Arial MT"/>
            </a:endParaRPr>
          </a:p>
          <a:p>
            <a:pPr marL="351790" marR="347345" algn="ctr">
              <a:lnSpc>
                <a:spcPts val="2900"/>
              </a:lnSpc>
              <a:spcBef>
                <a:spcPts val="530"/>
              </a:spcBef>
            </a:pPr>
            <a:r>
              <a:rPr sz="2550" spc="-165" dirty="0">
                <a:latin typeface="Arial MT"/>
                <a:cs typeface="Arial MT"/>
              </a:rPr>
              <a:t>1,561</a:t>
            </a:r>
            <a:r>
              <a:rPr sz="2550" spc="-50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Reviews </a:t>
            </a:r>
            <a:r>
              <a:rPr sz="2550" spc="-95" dirty="0">
                <a:latin typeface="Arial MT"/>
                <a:cs typeface="Arial MT"/>
              </a:rPr>
              <a:t>(Google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Play)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5160" y="6789905"/>
            <a:ext cx="2743200" cy="179958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735"/>
              </a:spcBef>
            </a:pPr>
            <a:r>
              <a:rPr sz="2950" spc="-10" dirty="0">
                <a:solidFill>
                  <a:srgbClr val="011A31"/>
                </a:solidFill>
                <a:latin typeface="Arial MT"/>
                <a:cs typeface="Arial MT"/>
              </a:rPr>
              <a:t>Preprocessing</a:t>
            </a:r>
            <a:endParaRPr sz="2950">
              <a:latin typeface="Arial MT"/>
              <a:cs typeface="Arial MT"/>
            </a:endParaRPr>
          </a:p>
          <a:p>
            <a:pPr marL="12700" marR="5080" indent="414020">
              <a:lnSpc>
                <a:spcPts val="2900"/>
              </a:lnSpc>
              <a:spcBef>
                <a:spcPts val="1190"/>
              </a:spcBef>
            </a:pPr>
            <a:r>
              <a:rPr sz="2900" spc="-170" dirty="0">
                <a:latin typeface="Arial MT"/>
                <a:cs typeface="Arial MT"/>
              </a:rPr>
              <a:t>Tokenization, </a:t>
            </a:r>
            <a:r>
              <a:rPr sz="2900" spc="-204" dirty="0">
                <a:latin typeface="Arial MT"/>
                <a:cs typeface="Arial MT"/>
              </a:rPr>
              <a:t>Stop-</a:t>
            </a:r>
            <a:r>
              <a:rPr sz="2900" spc="-225" dirty="0">
                <a:latin typeface="Arial MT"/>
                <a:cs typeface="Arial MT"/>
              </a:rPr>
              <a:t>word</a:t>
            </a:r>
            <a:r>
              <a:rPr sz="2900" spc="40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removal,</a:t>
            </a:r>
            <a:endParaRPr sz="2900">
              <a:latin typeface="Arial MT"/>
              <a:cs typeface="Arial MT"/>
            </a:endParaRPr>
          </a:p>
          <a:p>
            <a:pPr marL="357505">
              <a:lnSpc>
                <a:spcPts val="2800"/>
              </a:lnSpc>
            </a:pPr>
            <a:r>
              <a:rPr sz="2900" spc="-265" dirty="0">
                <a:latin typeface="Arial MT"/>
                <a:cs typeface="Arial MT"/>
              </a:rPr>
              <a:t>Lemmatization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7170" y="2567249"/>
            <a:ext cx="3280410" cy="13398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3050" dirty="0">
                <a:solidFill>
                  <a:srgbClr val="051A33"/>
                </a:solidFill>
                <a:latin typeface="Arial MT"/>
                <a:cs typeface="Arial MT"/>
              </a:rPr>
              <a:t>Analysis</a:t>
            </a:r>
            <a:r>
              <a:rPr sz="3050" spc="100" dirty="0">
                <a:solidFill>
                  <a:srgbClr val="051A33"/>
                </a:solidFill>
                <a:latin typeface="Arial MT"/>
                <a:cs typeface="Arial MT"/>
              </a:rPr>
              <a:t> </a:t>
            </a:r>
            <a:r>
              <a:rPr sz="3050" spc="-45" dirty="0">
                <a:solidFill>
                  <a:srgbClr val="031A2D"/>
                </a:solidFill>
                <a:latin typeface="Arial MT"/>
                <a:cs typeface="Arial MT"/>
              </a:rPr>
              <a:t>(M1</a:t>
            </a:r>
            <a:r>
              <a:rPr sz="3050" spc="-450" dirty="0">
                <a:solidFill>
                  <a:srgbClr val="031A2D"/>
                </a:solidFill>
                <a:latin typeface="Arial MT"/>
                <a:cs typeface="Arial MT"/>
              </a:rPr>
              <a:t> </a:t>
            </a:r>
            <a:r>
              <a:rPr sz="3050" spc="-190" dirty="0">
                <a:solidFill>
                  <a:srgbClr val="01162D"/>
                </a:solidFill>
                <a:latin typeface="Arial MT"/>
                <a:cs typeface="Arial MT"/>
              </a:rPr>
              <a:t>&amp; </a:t>
            </a:r>
            <a:r>
              <a:rPr sz="3050" spc="-25" dirty="0">
                <a:solidFill>
                  <a:srgbClr val="011C31"/>
                </a:solidFill>
                <a:latin typeface="Arial MT"/>
                <a:cs typeface="Arial MT"/>
              </a:rPr>
              <a:t>M2)</a:t>
            </a:r>
            <a:endParaRPr sz="3050">
              <a:latin typeface="Arial MT"/>
              <a:cs typeface="Arial MT"/>
            </a:endParaRPr>
          </a:p>
          <a:p>
            <a:pPr marL="67945" marR="71120" indent="29209" algn="ctr">
              <a:lnSpc>
                <a:spcPts val="2900"/>
              </a:lnSpc>
              <a:spcBef>
                <a:spcPts val="570"/>
              </a:spcBef>
            </a:pPr>
            <a:r>
              <a:rPr sz="2550" spc="-320" dirty="0">
                <a:latin typeface="Arial MT"/>
                <a:cs typeface="Arial MT"/>
              </a:rPr>
              <a:t>VADER</a:t>
            </a:r>
            <a:r>
              <a:rPr sz="2550" spc="130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Sentiment</a:t>
            </a:r>
            <a:r>
              <a:rPr sz="2550" spc="45" dirty="0">
                <a:latin typeface="Arial MT"/>
                <a:cs typeface="Arial MT"/>
              </a:rPr>
              <a:t> </a:t>
            </a:r>
            <a:r>
              <a:rPr sz="2550" spc="-360" dirty="0">
                <a:latin typeface="Arial MT"/>
                <a:cs typeface="Arial MT"/>
              </a:rPr>
              <a:t>&amp; </a:t>
            </a:r>
            <a:r>
              <a:rPr sz="2550" spc="-130" dirty="0">
                <a:latin typeface="Arial MT"/>
                <a:cs typeface="Arial MT"/>
              </a:rPr>
              <a:t>TF-</a:t>
            </a:r>
            <a:r>
              <a:rPr sz="2550" spc="-55" dirty="0">
                <a:latin typeface="Arial MT"/>
                <a:cs typeface="Arial MT"/>
              </a:rPr>
              <a:t>IDF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spc="-65" dirty="0">
                <a:latin typeface="Arial MT"/>
                <a:cs typeface="Arial MT"/>
              </a:rPr>
              <a:t>Topic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Modeling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7179" y="6708603"/>
            <a:ext cx="3126740" cy="151066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3100" dirty="0">
                <a:solidFill>
                  <a:srgbClr val="051F33"/>
                </a:solidFill>
                <a:latin typeface="Arial MT"/>
                <a:cs typeface="Arial MT"/>
              </a:rPr>
              <a:t>Prioritization</a:t>
            </a:r>
            <a:r>
              <a:rPr sz="3100" spc="130" dirty="0">
                <a:solidFill>
                  <a:srgbClr val="051F33"/>
                </a:solidFill>
                <a:latin typeface="Arial MT"/>
                <a:cs typeface="Arial MT"/>
              </a:rPr>
              <a:t> </a:t>
            </a:r>
            <a:r>
              <a:rPr sz="3100" spc="-20" dirty="0">
                <a:solidFill>
                  <a:srgbClr val="031A2B"/>
                </a:solidFill>
                <a:latin typeface="Arial MT"/>
                <a:cs typeface="Arial MT"/>
              </a:rPr>
              <a:t>(M3)</a:t>
            </a:r>
            <a:endParaRPr sz="3100">
              <a:latin typeface="Arial MT"/>
              <a:cs typeface="Arial MT"/>
            </a:endParaRPr>
          </a:p>
          <a:p>
            <a:pPr marL="436245" marR="428625" algn="ctr">
              <a:lnSpc>
                <a:spcPts val="2850"/>
              </a:lnSpc>
              <a:spcBef>
                <a:spcPts val="1200"/>
              </a:spcBef>
            </a:pPr>
            <a:r>
              <a:rPr sz="2550" spc="-265" dirty="0">
                <a:latin typeface="Arial MT"/>
                <a:cs typeface="Arial MT"/>
              </a:rPr>
              <a:t>RICE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-95" dirty="0">
                <a:latin typeface="Arial MT"/>
                <a:cs typeface="Arial MT"/>
              </a:rPr>
              <a:t>Framework </a:t>
            </a:r>
            <a:r>
              <a:rPr sz="2550" spc="-10" dirty="0">
                <a:latin typeface="Arial MT"/>
                <a:cs typeface="Arial MT"/>
              </a:rPr>
              <a:t>Scoring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19453" y="2543909"/>
            <a:ext cx="2686050" cy="13633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31115" algn="just">
              <a:lnSpc>
                <a:spcPct val="101299"/>
              </a:lnSpc>
              <a:spcBef>
                <a:spcPts val="470"/>
              </a:spcBef>
            </a:pPr>
            <a:r>
              <a:rPr sz="3200" spc="-75" dirty="0">
                <a:solidFill>
                  <a:srgbClr val="011C2F"/>
                </a:solidFill>
                <a:latin typeface="Arial MT"/>
                <a:cs typeface="Arial MT"/>
              </a:rPr>
              <a:t>Validation</a:t>
            </a:r>
            <a:r>
              <a:rPr sz="3200" spc="-135" dirty="0">
                <a:solidFill>
                  <a:srgbClr val="011C2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1182F"/>
                </a:solidFill>
                <a:latin typeface="Arial MT"/>
                <a:cs typeface="Arial MT"/>
              </a:rPr>
              <a:t>(M4) </a:t>
            </a:r>
            <a:r>
              <a:rPr sz="2550" spc="-80" dirty="0">
                <a:latin typeface="Arial MT"/>
                <a:cs typeface="Arial MT"/>
              </a:rPr>
              <a:t>A/B </a:t>
            </a:r>
            <a:r>
              <a:rPr sz="2550" spc="-100" dirty="0">
                <a:latin typeface="Arial MT"/>
                <a:cs typeface="Arial MT"/>
              </a:rPr>
              <a:t>Test</a:t>
            </a:r>
            <a:r>
              <a:rPr sz="2550" spc="-80" dirty="0">
                <a:latin typeface="Arial MT"/>
                <a:cs typeface="Arial MT"/>
              </a:rPr>
              <a:t> Design</a:t>
            </a:r>
            <a:r>
              <a:rPr sz="2550" spc="-40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&amp; </a:t>
            </a:r>
            <a:r>
              <a:rPr sz="2550" spc="-100" dirty="0">
                <a:latin typeface="Arial MT"/>
                <a:cs typeface="Arial MT"/>
              </a:rPr>
              <a:t>Tableau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Dashboard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900" y="3975100"/>
            <a:ext cx="6731000" cy="3733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9000" y="3505200"/>
            <a:ext cx="5702300" cy="4203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3931" y="4722240"/>
            <a:ext cx="291465" cy="18491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65"/>
              </a:lnSpc>
            </a:pPr>
            <a:r>
              <a:rPr sz="1850" spc="-50" dirty="0">
                <a:solidFill>
                  <a:srgbClr val="0C0C0C"/>
                </a:solidFill>
                <a:latin typeface="Arial MT"/>
                <a:cs typeface="Arial MT"/>
              </a:rPr>
              <a:t>Number</a:t>
            </a:r>
            <a:r>
              <a:rPr sz="1850" spc="-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070707"/>
                </a:solidFill>
                <a:latin typeface="Arial MT"/>
                <a:cs typeface="Arial MT"/>
              </a:rPr>
              <a:t>of</a:t>
            </a:r>
            <a:r>
              <a:rPr sz="1850" spc="-55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1850" spc="-195" dirty="0">
                <a:solidFill>
                  <a:srgbClr val="0F0F0F"/>
                </a:solidFill>
                <a:latin typeface="Arial MT"/>
                <a:cs typeface="Arial MT"/>
              </a:rPr>
              <a:t>Review</a:t>
            </a:r>
            <a:r>
              <a:rPr sz="1850" spc="-195" dirty="0">
                <a:solidFill>
                  <a:srgbClr val="161616"/>
                </a:solidFill>
                <a:latin typeface="Arial MT"/>
                <a:cs typeface="Arial MT"/>
              </a:rPr>
              <a:t>s</a:t>
            </a:r>
            <a:endParaRPr sz="18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67800" y="4584700"/>
            <a:ext cx="114300" cy="152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9700" y="5867400"/>
            <a:ext cx="622300" cy="228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84" rIns="0" bIns="0" rtlCol="0">
            <a:spAutoFit/>
          </a:bodyPr>
          <a:lstStyle/>
          <a:p>
            <a:pPr marL="231775">
              <a:lnSpc>
                <a:spcPts val="7695"/>
              </a:lnSpc>
              <a:spcBef>
                <a:spcPts val="120"/>
              </a:spcBef>
            </a:pPr>
            <a:r>
              <a:rPr sz="7200" spc="-365" dirty="0">
                <a:solidFill>
                  <a:srgbClr val="081F3A"/>
                </a:solidFill>
              </a:rPr>
              <a:t>Overall</a:t>
            </a:r>
            <a:r>
              <a:rPr sz="7200" spc="-330" dirty="0">
                <a:solidFill>
                  <a:srgbClr val="081F3A"/>
                </a:solidFill>
              </a:rPr>
              <a:t> </a:t>
            </a:r>
            <a:r>
              <a:rPr sz="7200" spc="-220" dirty="0">
                <a:solidFill>
                  <a:srgbClr val="081F3B"/>
                </a:solidFill>
              </a:rPr>
              <a:t>Satisfaction</a:t>
            </a:r>
            <a:r>
              <a:rPr sz="7200" spc="-225" dirty="0">
                <a:solidFill>
                  <a:srgbClr val="081F3B"/>
                </a:solidFill>
              </a:rPr>
              <a:t> </a:t>
            </a:r>
            <a:r>
              <a:rPr sz="7200" spc="-375" dirty="0">
                <a:solidFill>
                  <a:srgbClr val="08213B"/>
                </a:solidFill>
              </a:rPr>
              <a:t>Masks</a:t>
            </a:r>
            <a:r>
              <a:rPr sz="7200" spc="-380" dirty="0">
                <a:solidFill>
                  <a:srgbClr val="08213B"/>
                </a:solidFill>
              </a:rPr>
              <a:t> </a:t>
            </a:r>
            <a:r>
              <a:rPr sz="7200" spc="-175" dirty="0">
                <a:solidFill>
                  <a:srgbClr val="071C34"/>
                </a:solidFill>
              </a:rPr>
              <a:t>Specific,</a:t>
            </a:r>
            <a:endParaRPr sz="7200"/>
          </a:p>
          <a:p>
            <a:pPr marL="251460">
              <a:lnSpc>
                <a:spcPts val="7875"/>
              </a:lnSpc>
            </a:pPr>
            <a:r>
              <a:rPr sz="7350" spc="-350" dirty="0">
                <a:solidFill>
                  <a:srgbClr val="0C2646"/>
                </a:solidFill>
              </a:rPr>
              <a:t>Actionable</a:t>
            </a:r>
            <a:r>
              <a:rPr sz="7350" spc="-229" dirty="0">
                <a:solidFill>
                  <a:srgbClr val="0C2646"/>
                </a:solidFill>
              </a:rPr>
              <a:t> </a:t>
            </a:r>
            <a:r>
              <a:rPr sz="7350" spc="-165" dirty="0">
                <a:solidFill>
                  <a:srgbClr val="08213D"/>
                </a:solidFill>
              </a:rPr>
              <a:t>Dissatisfaction</a:t>
            </a:r>
            <a:endParaRPr sz="7350"/>
          </a:p>
        </p:txBody>
      </p:sp>
      <p:sp>
        <p:nvSpPr>
          <p:cNvPr id="8" name="object 8"/>
          <p:cNvSpPr txBox="1"/>
          <p:nvPr/>
        </p:nvSpPr>
        <p:spPr>
          <a:xfrm>
            <a:off x="1232904" y="3315405"/>
            <a:ext cx="39624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05" dirty="0">
                <a:solidFill>
                  <a:srgbClr val="181818"/>
                </a:solidFill>
                <a:latin typeface="Arial MT"/>
                <a:cs typeface="Arial MT"/>
              </a:rPr>
              <a:t>700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949" y="3945113"/>
            <a:ext cx="40513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30" dirty="0">
                <a:solidFill>
                  <a:srgbClr val="0C0C0C"/>
                </a:solidFill>
                <a:latin typeface="Comic Sans MS"/>
                <a:cs typeface="Comic Sans MS"/>
              </a:rPr>
              <a:t>600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5083" y="4539544"/>
            <a:ext cx="3930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161616"/>
                </a:solidFill>
                <a:latin typeface="Arial MT"/>
                <a:cs typeface="Arial MT"/>
              </a:rPr>
              <a:t>500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8875" y="5127625"/>
            <a:ext cx="398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35" dirty="0">
                <a:solidFill>
                  <a:srgbClr val="050505"/>
                </a:solidFill>
                <a:latin typeface="Arial MT"/>
                <a:cs typeface="Arial MT"/>
              </a:rPr>
              <a:t>400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8992" y="5724525"/>
            <a:ext cx="40640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solidFill>
                  <a:srgbClr val="0C0C0C"/>
                </a:solidFill>
                <a:latin typeface="Consolas"/>
                <a:cs typeface="Consolas"/>
              </a:rPr>
              <a:t>ZOD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2507" y="6301316"/>
            <a:ext cx="41592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90" dirty="0">
                <a:solidFill>
                  <a:srgbClr val="0C0C0C"/>
                </a:solidFill>
                <a:latin typeface="Courier New"/>
                <a:cs typeface="Courier New"/>
              </a:rPr>
              <a:t>200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5030" y="6939844"/>
            <a:ext cx="38163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5" dirty="0">
                <a:solidFill>
                  <a:srgbClr val="1A1A1A"/>
                </a:solidFill>
                <a:latin typeface="Arial MT"/>
                <a:cs typeface="Arial MT"/>
              </a:rPr>
              <a:t>100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89449" y="7545564"/>
            <a:ext cx="14478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solidFill>
                  <a:srgbClr val="1D1D1D"/>
                </a:solidFill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7418" y="7731125"/>
            <a:ext cx="3232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14" dirty="0">
                <a:solidFill>
                  <a:srgbClr val="111111"/>
                </a:solidFill>
                <a:latin typeface="Comic Sans MS"/>
                <a:cs typeface="Comic Sans MS"/>
              </a:rPr>
              <a:t>4.0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5248" y="2816930"/>
            <a:ext cx="265176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solidFill>
                  <a:srgbClr val="081A2D"/>
                </a:solidFill>
                <a:latin typeface="Arial MT"/>
                <a:cs typeface="Arial MT"/>
              </a:rPr>
              <a:t>Rating</a:t>
            </a:r>
            <a:r>
              <a:rPr sz="2550" spc="-85" dirty="0">
                <a:solidFill>
                  <a:srgbClr val="081A2D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A1A1A"/>
                </a:solidFill>
                <a:latin typeface="Arial MT"/>
                <a:cs typeface="Arial MT"/>
              </a:rPr>
              <a:t>Distribution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99074" y="7731125"/>
            <a:ext cx="32385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60" dirty="0">
                <a:solidFill>
                  <a:srgbClr val="0F0F0F"/>
                </a:solidFill>
                <a:latin typeface="Arial MT"/>
                <a:cs typeface="Arial MT"/>
              </a:rPr>
              <a:t>4.3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5474" y="7731125"/>
            <a:ext cx="32385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60" dirty="0">
                <a:solidFill>
                  <a:srgbClr val="080808"/>
                </a:solidFill>
                <a:latin typeface="Arial MT"/>
                <a:cs typeface="Arial MT"/>
              </a:rPr>
              <a:t>4.5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39950" y="7704666"/>
            <a:ext cx="34480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425" dirty="0">
                <a:solidFill>
                  <a:srgbClr val="0C0C0C"/>
                </a:solidFill>
                <a:latin typeface="Courier New"/>
                <a:cs typeface="Courier New"/>
              </a:rPr>
              <a:t>4.6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83170" y="3324225"/>
            <a:ext cx="38290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0" dirty="0">
                <a:solidFill>
                  <a:srgbClr val="151515"/>
                </a:solidFill>
                <a:latin typeface="Arial MT"/>
                <a:cs typeface="Arial MT"/>
              </a:rPr>
              <a:t>100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80856" y="4135966"/>
            <a:ext cx="30162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20" dirty="0">
                <a:solidFill>
                  <a:srgbClr val="0F0F0F"/>
                </a:solidFill>
                <a:latin typeface="Courier New"/>
                <a:cs typeface="Courier New"/>
              </a:rPr>
              <a:t>80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71704" y="5006607"/>
            <a:ext cx="704215" cy="5797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75"/>
              </a:spcBef>
              <a:tabLst>
                <a:tab pos="437515" algn="l"/>
              </a:tabLst>
            </a:pPr>
            <a:r>
              <a:rPr sz="1700" spc="-25" dirty="0">
                <a:solidFill>
                  <a:srgbClr val="0C0C0C"/>
                </a:solidFill>
                <a:latin typeface="Cambria"/>
                <a:cs typeface="Cambria"/>
              </a:rPr>
              <a:t>cc</a:t>
            </a:r>
            <a:r>
              <a:rPr sz="17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700" spc="25" dirty="0">
                <a:solidFill>
                  <a:srgbClr val="111111"/>
                </a:solidFill>
                <a:latin typeface="Cambria"/>
                <a:cs typeface="Cambria"/>
              </a:rPr>
              <a:t>60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650" spc="-50" dirty="0">
                <a:solidFill>
                  <a:srgbClr val="0F0F0F"/>
                </a:solidFill>
                <a:latin typeface="Courier New"/>
                <a:cs typeface="Courier New"/>
              </a:rPr>
              <a:t>0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87871" y="6654447"/>
            <a:ext cx="29146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15" dirty="0">
                <a:solidFill>
                  <a:srgbClr val="131313"/>
                </a:solidFill>
                <a:latin typeface="Courier New"/>
                <a:cs typeface="Courier New"/>
              </a:rPr>
              <a:t>20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08116" y="7501466"/>
            <a:ext cx="18478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50" dirty="0">
                <a:solidFill>
                  <a:srgbClr val="151515"/>
                </a:solidFill>
                <a:latin typeface="Courier New"/>
                <a:cs typeface="Courier New"/>
              </a:rPr>
              <a:t>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82445" y="2834569"/>
            <a:ext cx="553021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60" dirty="0">
                <a:solidFill>
                  <a:srgbClr val="051D3A"/>
                </a:solidFill>
                <a:latin typeface="Arial MT"/>
                <a:cs typeface="Arial MT"/>
              </a:rPr>
              <a:t>VADER</a:t>
            </a:r>
            <a:r>
              <a:rPr sz="2400" spc="160" dirty="0">
                <a:solidFill>
                  <a:srgbClr val="051D3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61616"/>
                </a:solidFill>
                <a:latin typeface="Arial MT"/>
                <a:cs typeface="Arial MT"/>
              </a:rPr>
              <a:t>Sentiment</a:t>
            </a:r>
            <a:r>
              <a:rPr sz="2400" spc="2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Breakdown</a:t>
            </a:r>
            <a:r>
              <a:rPr sz="2400" spc="1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5182B"/>
                </a:solidFill>
                <a:latin typeface="Arial MT"/>
                <a:cs typeface="Arial MT"/>
              </a:rPr>
              <a:t>by</a:t>
            </a:r>
            <a:r>
              <a:rPr sz="2400" spc="20" dirty="0">
                <a:solidFill>
                  <a:srgbClr val="05182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51524"/>
                </a:solidFill>
                <a:latin typeface="Arial MT"/>
                <a:cs typeface="Arial MT"/>
              </a:rPr>
              <a:t>Rating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11072" y="7713485"/>
            <a:ext cx="34798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390" dirty="0">
                <a:solidFill>
                  <a:srgbClr val="070707"/>
                </a:solidFill>
                <a:latin typeface="Courier New"/>
                <a:cs typeface="Courier New"/>
              </a:rPr>
              <a:t>4.0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57174" y="7731125"/>
            <a:ext cx="32385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60" dirty="0">
                <a:latin typeface="Arial MT"/>
                <a:cs typeface="Arial MT"/>
              </a:rPr>
              <a:t>4.3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77595" y="7731125"/>
            <a:ext cx="32766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10" dirty="0">
                <a:latin typeface="Consolas"/>
                <a:cs typeface="Consolas"/>
              </a:rPr>
              <a:t>4.5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02091" y="7739944"/>
            <a:ext cx="32512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30" dirty="0">
                <a:latin typeface="Arial MT"/>
                <a:cs typeface="Arial MT"/>
              </a:rPr>
              <a:t>4.6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705531" y="5017819"/>
            <a:ext cx="1158875" cy="122110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39"/>
              </a:spcBef>
            </a:pP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Sentiment</a:t>
            </a:r>
            <a:endParaRPr sz="170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359"/>
              </a:spcBef>
            </a:pPr>
            <a:r>
              <a:rPr sz="1850" spc="120" dirty="0">
                <a:solidFill>
                  <a:srgbClr val="00BD91"/>
                </a:solidFill>
                <a:latin typeface="Arial MT"/>
                <a:cs typeface="Arial MT"/>
              </a:rPr>
              <a:t>M</a:t>
            </a:r>
            <a:r>
              <a:rPr sz="1850" spc="-95" dirty="0">
                <a:solidFill>
                  <a:srgbClr val="00BD91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A0A0A"/>
                </a:solidFill>
                <a:latin typeface="Arial MT"/>
                <a:cs typeface="Arial MT"/>
              </a:rPr>
              <a:t>Pos!t!ve</a:t>
            </a:r>
            <a:endParaRPr sz="1850">
              <a:latin typeface="Arial MT"/>
              <a:cs typeface="Arial MT"/>
            </a:endParaRPr>
          </a:p>
          <a:p>
            <a:pPr marL="24765" marR="5080" indent="-12700">
              <a:lnSpc>
                <a:spcPts val="2200"/>
              </a:lnSpc>
              <a:spcBef>
                <a:spcPts val="120"/>
              </a:spcBef>
              <a:buClr>
                <a:srgbClr val="808080"/>
              </a:buClr>
              <a:buChar char="■"/>
              <a:tabLst>
                <a:tab pos="24765" algn="l"/>
                <a:tab pos="289560" algn="l"/>
              </a:tabLst>
            </a:pPr>
            <a:r>
              <a:rPr sz="1850" spc="-10" dirty="0">
                <a:solidFill>
                  <a:srgbClr val="0C0C0C"/>
                </a:solidFill>
                <a:latin typeface="Arial MT"/>
                <a:cs typeface="Arial MT"/>
              </a:rPr>
              <a:t>	Neutral </a:t>
            </a:r>
            <a:r>
              <a:rPr sz="1850" spc="120" dirty="0">
                <a:solidFill>
                  <a:srgbClr val="FD5656"/>
                </a:solidFill>
                <a:latin typeface="Arial MT"/>
                <a:cs typeface="Arial MT"/>
              </a:rPr>
              <a:t>M</a:t>
            </a:r>
            <a:r>
              <a:rPr sz="1850" spc="-90" dirty="0">
                <a:solidFill>
                  <a:srgbClr val="FD5656"/>
                </a:solidFill>
                <a:latin typeface="Arial MT"/>
                <a:cs typeface="Arial MT"/>
              </a:rPr>
              <a:t> </a:t>
            </a:r>
            <a:r>
              <a:rPr sz="1850" spc="-80" dirty="0">
                <a:solidFill>
                  <a:srgbClr val="0A0A0A"/>
                </a:solidFill>
                <a:latin typeface="Arial MT"/>
                <a:cs typeface="Arial MT"/>
              </a:rPr>
              <a:t>Negative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96033" y="8736189"/>
            <a:ext cx="1485836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90" dirty="0">
                <a:solidFill>
                  <a:srgbClr val="131313"/>
                </a:solidFill>
                <a:latin typeface="Arial MT"/>
                <a:cs typeface="Arial MT"/>
              </a:rPr>
              <a:t>Insight:</a:t>
            </a:r>
            <a:r>
              <a:rPr sz="2350" spc="-1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80808"/>
                </a:solidFill>
                <a:latin typeface="Arial MT"/>
                <a:cs typeface="Arial MT"/>
              </a:rPr>
              <a:t>1-Star</a:t>
            </a:r>
            <a:r>
              <a:rPr sz="2350" spc="26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F0F0F"/>
                </a:solidFill>
                <a:latin typeface="Arial MT"/>
                <a:cs typeface="Arial MT"/>
              </a:rPr>
              <a:t>reviews</a:t>
            </a:r>
            <a:r>
              <a:rPr sz="2350" spc="2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C0C0C"/>
                </a:solidFill>
                <a:latin typeface="Arial MT"/>
                <a:cs typeface="Arial MT"/>
              </a:rPr>
              <a:t>are</a:t>
            </a:r>
            <a:r>
              <a:rPr sz="2350" spc="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F0F0F"/>
                </a:solidFill>
                <a:latin typeface="Arial MT"/>
                <a:cs typeface="Arial MT"/>
              </a:rPr>
              <a:t>longer</a:t>
            </a:r>
            <a:r>
              <a:rPr sz="2350" spc="3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70707"/>
                </a:solidFill>
                <a:latin typeface="Arial MT"/>
                <a:cs typeface="Arial MT"/>
              </a:rPr>
              <a:t>(&gt;100</a:t>
            </a:r>
            <a:r>
              <a:rPr sz="2350" spc="145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C0C0C"/>
                </a:solidFill>
                <a:latin typeface="Arial MT"/>
                <a:cs typeface="Arial MT"/>
              </a:rPr>
              <a:t>chars)</a:t>
            </a:r>
            <a:r>
              <a:rPr sz="2350" spc="409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sz="2350" spc="2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11111"/>
                </a:solidFill>
                <a:latin typeface="Arial MT"/>
                <a:cs typeface="Arial MT"/>
              </a:rPr>
              <a:t>contain</a:t>
            </a:r>
            <a:r>
              <a:rPr sz="2350" spc="2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F0F0F"/>
                </a:solidFill>
                <a:latin typeface="Arial MT"/>
                <a:cs typeface="Arial MT"/>
              </a:rPr>
              <a:t>detailed</a:t>
            </a:r>
            <a:r>
              <a:rPr sz="2350" spc="2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11111"/>
                </a:solidFill>
                <a:latin typeface="Arial MT"/>
                <a:cs typeface="Arial MT"/>
              </a:rPr>
              <a:t>’bug</a:t>
            </a:r>
            <a:r>
              <a:rPr sz="2350" spc="2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C0C0C"/>
                </a:solidFill>
                <a:latin typeface="Arial MT"/>
                <a:cs typeface="Arial MT"/>
              </a:rPr>
              <a:t>reports’</a:t>
            </a:r>
            <a:r>
              <a:rPr sz="2350" spc="15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80808"/>
                </a:solidFill>
                <a:latin typeface="Arial MT"/>
                <a:cs typeface="Arial MT"/>
              </a:rPr>
              <a:t>rather</a:t>
            </a:r>
            <a:r>
              <a:rPr sz="2350" spc="24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E0E0E"/>
                </a:solidFill>
                <a:latin typeface="Arial MT"/>
                <a:cs typeface="Arial MT"/>
              </a:rPr>
              <a:t>than</a:t>
            </a:r>
            <a:r>
              <a:rPr sz="2350" spc="1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80808"/>
                </a:solidFill>
                <a:latin typeface="Arial MT"/>
                <a:cs typeface="Arial MT"/>
              </a:rPr>
              <a:t>simple</a:t>
            </a:r>
            <a:r>
              <a:rPr sz="2350" spc="229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0C0C0C"/>
                </a:solidFill>
                <a:latin typeface="Arial MT"/>
                <a:cs typeface="Arial MT"/>
              </a:rPr>
              <a:t>venting.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6300" y="2908300"/>
            <a:ext cx="8382000" cy="5397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4919345" marR="5080" indent="-3723004">
              <a:lnSpc>
                <a:spcPts val="6400"/>
              </a:lnSpc>
              <a:spcBef>
                <a:spcPts val="1645"/>
              </a:spcBef>
            </a:pPr>
            <a:r>
              <a:rPr sz="6650" spc="-440" dirty="0">
                <a:solidFill>
                  <a:srgbClr val="0A2448"/>
                </a:solidFill>
              </a:rPr>
              <a:t>Feature</a:t>
            </a:r>
            <a:r>
              <a:rPr sz="6650" spc="-265" dirty="0">
                <a:solidFill>
                  <a:srgbClr val="0A2448"/>
                </a:solidFill>
              </a:rPr>
              <a:t> </a:t>
            </a:r>
            <a:r>
              <a:rPr sz="6650" spc="-325" dirty="0">
                <a:solidFill>
                  <a:srgbClr val="0C264D"/>
                </a:solidFill>
              </a:rPr>
              <a:t>Sentiment:</a:t>
            </a:r>
            <a:r>
              <a:rPr sz="6650" spc="-185" dirty="0">
                <a:solidFill>
                  <a:srgbClr val="0C264D"/>
                </a:solidFill>
              </a:rPr>
              <a:t> </a:t>
            </a:r>
            <a:r>
              <a:rPr sz="6650" spc="-365" dirty="0">
                <a:solidFill>
                  <a:srgbClr val="082344"/>
                </a:solidFill>
              </a:rPr>
              <a:t>Core</a:t>
            </a:r>
            <a:r>
              <a:rPr sz="6650" spc="-450" dirty="0">
                <a:solidFill>
                  <a:srgbClr val="082344"/>
                </a:solidFill>
              </a:rPr>
              <a:t> </a:t>
            </a:r>
            <a:r>
              <a:rPr sz="6650" spc="-295" dirty="0">
                <a:solidFill>
                  <a:srgbClr val="082446"/>
                </a:solidFill>
              </a:rPr>
              <a:t>Tracking</a:t>
            </a:r>
            <a:r>
              <a:rPr sz="6650" spc="-90" dirty="0">
                <a:solidFill>
                  <a:srgbClr val="082446"/>
                </a:solidFill>
              </a:rPr>
              <a:t> </a:t>
            </a:r>
            <a:r>
              <a:rPr sz="6650" spc="-290" dirty="0">
                <a:solidFill>
                  <a:srgbClr val="082444"/>
                </a:solidFill>
              </a:rPr>
              <a:t>Wins, </a:t>
            </a:r>
            <a:r>
              <a:rPr sz="6650" spc="-135" dirty="0">
                <a:solidFill>
                  <a:srgbClr val="0A2849"/>
                </a:solidFill>
              </a:rPr>
              <a:t>Connectivity</a:t>
            </a:r>
            <a:r>
              <a:rPr sz="6650" spc="-254" dirty="0">
                <a:solidFill>
                  <a:srgbClr val="0A2849"/>
                </a:solidFill>
              </a:rPr>
              <a:t> </a:t>
            </a:r>
            <a:r>
              <a:rPr sz="6650" spc="-295" dirty="0">
                <a:solidFill>
                  <a:srgbClr val="051F3B"/>
                </a:solidFill>
              </a:rPr>
              <a:t>Fails</a:t>
            </a:r>
            <a:endParaRPr sz="6650"/>
          </a:p>
        </p:txBody>
      </p:sp>
      <p:sp>
        <p:nvSpPr>
          <p:cNvPr id="4" name="object 4"/>
          <p:cNvSpPr txBox="1"/>
          <p:nvPr/>
        </p:nvSpPr>
        <p:spPr>
          <a:xfrm>
            <a:off x="2824126" y="5837766"/>
            <a:ext cx="2697480" cy="1210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94055">
              <a:lnSpc>
                <a:spcPct val="100000"/>
              </a:lnSpc>
              <a:spcBef>
                <a:spcPts val="130"/>
              </a:spcBef>
            </a:pPr>
            <a:r>
              <a:rPr sz="2050" spc="-10" dirty="0">
                <a:solidFill>
                  <a:srgbClr val="0C0C0C"/>
                </a:solidFill>
                <a:latin typeface="Arial MT"/>
                <a:cs typeface="Arial MT"/>
              </a:rPr>
              <a:t>Sync_lntegration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20" dirty="0">
                <a:solidFill>
                  <a:srgbClr val="0A0A0A"/>
                </a:solidFill>
                <a:latin typeface="Arial MT"/>
                <a:cs typeface="Arial MT"/>
              </a:rPr>
              <a:t>Bug</a:t>
            </a:r>
            <a:r>
              <a:rPr sz="2200" spc="-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A0A0A"/>
                </a:solidFill>
                <a:latin typeface="Arial MT"/>
                <a:cs typeface="Arial MT"/>
              </a:rPr>
              <a:t>Technical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2964" y="8351308"/>
            <a:ext cx="65595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60" dirty="0">
                <a:solidFill>
                  <a:srgbClr val="0A0A0A"/>
                </a:solidFill>
                <a:latin typeface="Arial MT"/>
                <a:cs typeface="Arial MT"/>
              </a:rPr>
              <a:t>-</a:t>
            </a:r>
            <a:r>
              <a:rPr sz="2300" spc="-45" dirty="0">
                <a:solidFill>
                  <a:srgbClr val="0A0A0A"/>
                </a:solidFill>
                <a:latin typeface="Arial MT"/>
                <a:cs typeface="Arial MT"/>
              </a:rPr>
              <a:t>0.20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2929" y="7525808"/>
            <a:ext cx="160972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9480" algn="l"/>
              </a:tabLst>
            </a:pPr>
            <a:r>
              <a:rPr sz="2300" spc="-10" dirty="0">
                <a:solidFill>
                  <a:srgbClr val="080808"/>
                </a:solidFill>
                <a:latin typeface="Arial MT"/>
                <a:cs typeface="Arial MT"/>
              </a:rPr>
              <a:t>Offline</a:t>
            </a:r>
            <a:r>
              <a:rPr sz="2300" dirty="0">
                <a:solidFill>
                  <a:srgbClr val="080808"/>
                </a:solidFill>
                <a:latin typeface="Arial MT"/>
                <a:cs typeface="Arial MT"/>
              </a:rPr>
              <a:t>	</a:t>
            </a:r>
            <a:r>
              <a:rPr sz="2300" spc="-95" dirty="0">
                <a:solidFill>
                  <a:srgbClr val="080808"/>
                </a:solidFill>
                <a:latin typeface="Arial MT"/>
                <a:cs typeface="Arial MT"/>
              </a:rPr>
              <a:t>Mode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8902" y="8360127"/>
            <a:ext cx="60579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114" dirty="0">
                <a:solidFill>
                  <a:srgbClr val="0A0A0A"/>
                </a:solidFill>
                <a:latin typeface="Comic Sans MS"/>
                <a:cs typeface="Comic Sans MS"/>
              </a:rPr>
              <a:t>-</a:t>
            </a:r>
            <a:r>
              <a:rPr sz="2200" spc="-105" dirty="0">
                <a:solidFill>
                  <a:srgbClr val="0A0A0A"/>
                </a:solidFill>
                <a:latin typeface="Comic Sans MS"/>
                <a:cs typeface="Comic Sans MS"/>
              </a:rPr>
              <a:t>0.10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6681" y="7525808"/>
            <a:ext cx="528129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95" dirty="0">
                <a:solidFill>
                  <a:srgbClr val="0C0C0C"/>
                </a:solidFill>
                <a:latin typeface="Arial MT"/>
                <a:cs typeface="Arial MT"/>
              </a:rPr>
              <a:t>Lowest</a:t>
            </a:r>
            <a:r>
              <a:rPr sz="23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spc="-105" dirty="0">
                <a:solidFill>
                  <a:srgbClr val="0A0A0A"/>
                </a:solidFill>
                <a:latin typeface="Arial MT"/>
                <a:cs typeface="Arial MT"/>
              </a:rPr>
              <a:t>Sentiment</a:t>
            </a:r>
            <a:r>
              <a:rPr sz="2300" spc="4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300" spc="-85" dirty="0">
                <a:solidFill>
                  <a:srgbClr val="0C0C0C"/>
                </a:solidFill>
                <a:latin typeface="Arial MT"/>
                <a:cs typeface="Arial MT"/>
              </a:rPr>
              <a:t>(0.05)</a:t>
            </a:r>
            <a:r>
              <a:rPr sz="2300" spc="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E0E0E"/>
                </a:solidFill>
                <a:latin typeface="Arial MT"/>
                <a:cs typeface="Arial MT"/>
              </a:rPr>
              <a:t>-</a:t>
            </a:r>
            <a:r>
              <a:rPr sz="2300" spc="-1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300" spc="-65" dirty="0">
                <a:solidFill>
                  <a:srgbClr val="0C0C0C"/>
                </a:solidFill>
                <a:latin typeface="Arial MT"/>
                <a:cs typeface="Arial MT"/>
              </a:rPr>
              <a:t>Critical</a:t>
            </a:r>
            <a:r>
              <a:rPr sz="2300" spc="-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spc="-195" dirty="0">
                <a:solidFill>
                  <a:srgbClr val="0E0E0E"/>
                </a:solidFill>
                <a:latin typeface="Arial MT"/>
                <a:cs typeface="Arial MT"/>
              </a:rPr>
              <a:t>Pain</a:t>
            </a:r>
            <a:r>
              <a:rPr sz="2300" spc="-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0F0F0F"/>
                </a:solidFill>
                <a:latin typeface="Arial MT"/>
                <a:cs typeface="Arial MT"/>
              </a:rPr>
              <a:t>Point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6820" y="8351308"/>
            <a:ext cx="54673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85" dirty="0">
                <a:solidFill>
                  <a:srgbClr val="080808"/>
                </a:solidFill>
                <a:latin typeface="Arial MT"/>
                <a:cs typeface="Arial MT"/>
              </a:rPr>
              <a:t>0.00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1665" y="8197311"/>
            <a:ext cx="3313429" cy="110553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R="41275" algn="ctr">
              <a:lnSpc>
                <a:spcPct val="100000"/>
              </a:lnSpc>
              <a:spcBef>
                <a:spcPts val="1455"/>
              </a:spcBef>
            </a:pPr>
            <a:r>
              <a:rPr sz="2150" spc="-20" dirty="0">
                <a:solidFill>
                  <a:srgbClr val="0E0E0E"/>
                </a:solidFill>
                <a:latin typeface="Arial MT"/>
                <a:cs typeface="Arial MT"/>
              </a:rPr>
              <a:t>0.10</a:t>
            </a:r>
            <a:endParaRPr sz="2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570"/>
              </a:spcBef>
            </a:pPr>
            <a:r>
              <a:rPr sz="2500" spc="-225" dirty="0">
                <a:solidFill>
                  <a:srgbClr val="131313"/>
                </a:solidFill>
                <a:latin typeface="Arial MT"/>
                <a:cs typeface="Arial MT"/>
              </a:rPr>
              <a:t>Average</a:t>
            </a:r>
            <a:r>
              <a:rPr sz="2500" spc="-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500" spc="-190" dirty="0">
                <a:solidFill>
                  <a:srgbClr val="0A0A0A"/>
                </a:solidFill>
                <a:latin typeface="Arial MT"/>
                <a:cs typeface="Arial MT"/>
              </a:rPr>
              <a:t>Sentiment</a:t>
            </a:r>
            <a:r>
              <a:rPr sz="2500" spc="9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500" spc="-135" dirty="0">
                <a:solidFill>
                  <a:srgbClr val="0E0E0E"/>
                </a:solidFill>
                <a:latin typeface="Arial MT"/>
                <a:cs typeface="Arial MT"/>
              </a:rPr>
              <a:t>Polarity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02913" y="8316030"/>
            <a:ext cx="57404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484" dirty="0">
                <a:solidFill>
                  <a:srgbClr val="080808"/>
                </a:solidFill>
                <a:latin typeface="Courier New"/>
                <a:cs typeface="Courier New"/>
              </a:rPr>
              <a:t>0.20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37896" y="3093508"/>
            <a:ext cx="3082290" cy="13906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81000" marR="5080" indent="-1905">
              <a:lnSpc>
                <a:spcPts val="2500"/>
              </a:lnSpc>
              <a:spcBef>
                <a:spcPts val="390"/>
              </a:spcBef>
            </a:pPr>
            <a:r>
              <a:rPr sz="2300" spc="-70" dirty="0">
                <a:solidFill>
                  <a:srgbClr val="070707"/>
                </a:solidFill>
                <a:latin typeface="Arial MT"/>
                <a:cs typeface="Arial MT"/>
              </a:rPr>
              <a:t>Workout_Tracking </a:t>
            </a:r>
            <a:r>
              <a:rPr sz="2300" spc="-145" dirty="0">
                <a:solidFill>
                  <a:srgbClr val="0A0A0A"/>
                </a:solidFill>
                <a:latin typeface="Arial MT"/>
                <a:cs typeface="Arial MT"/>
              </a:rPr>
              <a:t>Core</a:t>
            </a:r>
            <a:r>
              <a:rPr sz="2300" spc="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300" spc="-195" dirty="0">
                <a:solidFill>
                  <a:srgbClr val="111111"/>
                </a:solidFill>
                <a:latin typeface="Arial MT"/>
                <a:cs typeface="Arial MT"/>
              </a:rPr>
              <a:t>Value</a:t>
            </a:r>
            <a:r>
              <a:rPr sz="23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spc="-95" dirty="0">
                <a:solidFill>
                  <a:srgbClr val="0C0C0C"/>
                </a:solidFill>
                <a:latin typeface="Arial MT"/>
                <a:cs typeface="Arial MT"/>
              </a:rPr>
              <a:t>Proposition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969644" algn="l"/>
              </a:tabLst>
            </a:pPr>
            <a:r>
              <a:rPr sz="2300" spc="-10" dirty="0">
                <a:solidFill>
                  <a:srgbClr val="080808"/>
                </a:solidFill>
                <a:latin typeface="Arial MT"/>
                <a:cs typeface="Arial MT"/>
              </a:rPr>
              <a:t>Calorie</a:t>
            </a:r>
            <a:r>
              <a:rPr sz="2300" dirty="0">
                <a:solidFill>
                  <a:srgbClr val="080808"/>
                </a:solidFill>
                <a:latin typeface="Arial MT"/>
                <a:cs typeface="Arial MT"/>
              </a:rPr>
              <a:t>	</a:t>
            </a:r>
            <a:r>
              <a:rPr sz="2300" spc="-10" dirty="0">
                <a:solidFill>
                  <a:srgbClr val="080808"/>
                </a:solidFill>
                <a:latin typeface="Arial MT"/>
                <a:cs typeface="Arial MT"/>
              </a:rPr>
              <a:t>Nutrition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15523" y="8360127"/>
            <a:ext cx="57277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20" dirty="0">
                <a:solidFill>
                  <a:srgbClr val="080808"/>
                </a:solidFill>
                <a:latin typeface="Cambria"/>
                <a:cs typeface="Cambria"/>
              </a:rPr>
              <a:t>0.30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27009" y="8342489"/>
            <a:ext cx="55245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85" dirty="0">
                <a:latin typeface="Consolas"/>
                <a:cs typeface="Consolas"/>
              </a:rPr>
              <a:t>0.40</a:t>
            </a:r>
            <a:endParaRPr sz="23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900" y="3479800"/>
            <a:ext cx="7213600" cy="5067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5854700"/>
            <a:ext cx="190500" cy="355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1875" rIns="0" bIns="0" rtlCol="0">
            <a:spAutoFit/>
          </a:bodyPr>
          <a:lstStyle/>
          <a:p>
            <a:pPr marL="182880">
              <a:lnSpc>
                <a:spcPts val="7570"/>
              </a:lnSpc>
              <a:spcBef>
                <a:spcPts val="135"/>
              </a:spcBef>
            </a:pPr>
            <a:r>
              <a:rPr sz="6700" spc="-100" dirty="0">
                <a:solidFill>
                  <a:srgbClr val="071F3F"/>
                </a:solidFill>
              </a:rPr>
              <a:t>Emotional</a:t>
            </a:r>
            <a:r>
              <a:rPr sz="6700" spc="-370" dirty="0">
                <a:solidFill>
                  <a:srgbClr val="071F3F"/>
                </a:solidFill>
              </a:rPr>
              <a:t> </a:t>
            </a:r>
            <a:r>
              <a:rPr sz="6700" spc="-10" dirty="0">
                <a:solidFill>
                  <a:srgbClr val="08213F"/>
                </a:solidFill>
              </a:rPr>
              <a:t>Drivers:</a:t>
            </a:r>
            <a:r>
              <a:rPr sz="6700" spc="-434" dirty="0">
                <a:solidFill>
                  <a:srgbClr val="08213F"/>
                </a:solidFill>
              </a:rPr>
              <a:t> </a:t>
            </a:r>
            <a:r>
              <a:rPr sz="6700" spc="-10" dirty="0">
                <a:solidFill>
                  <a:srgbClr val="071F3D"/>
                </a:solidFill>
              </a:rPr>
              <a:t>Trust</a:t>
            </a:r>
            <a:r>
              <a:rPr sz="6700" spc="-380" dirty="0">
                <a:solidFill>
                  <a:srgbClr val="071F3D"/>
                </a:solidFill>
              </a:rPr>
              <a:t> </a:t>
            </a:r>
            <a:r>
              <a:rPr sz="6700" spc="-65" dirty="0">
                <a:solidFill>
                  <a:srgbClr val="031D36"/>
                </a:solidFill>
              </a:rPr>
              <a:t>Drives</a:t>
            </a:r>
            <a:r>
              <a:rPr sz="6700" spc="-400" dirty="0">
                <a:solidFill>
                  <a:srgbClr val="031D36"/>
                </a:solidFill>
              </a:rPr>
              <a:t> </a:t>
            </a:r>
            <a:r>
              <a:rPr sz="6700" spc="-25" dirty="0">
                <a:solidFill>
                  <a:srgbClr val="051C3B"/>
                </a:solidFill>
              </a:rPr>
              <a:t>Retention,</a:t>
            </a:r>
            <a:endParaRPr sz="6700"/>
          </a:p>
          <a:p>
            <a:pPr marL="204470">
              <a:lnSpc>
                <a:spcPts val="7690"/>
              </a:lnSpc>
            </a:pPr>
            <a:r>
              <a:rPr sz="6800" spc="-150" dirty="0">
                <a:solidFill>
                  <a:srgbClr val="051F3D"/>
                </a:solidFill>
              </a:rPr>
              <a:t>Technical</a:t>
            </a:r>
            <a:r>
              <a:rPr sz="6800" spc="-325" dirty="0">
                <a:solidFill>
                  <a:srgbClr val="051F3D"/>
                </a:solidFill>
              </a:rPr>
              <a:t> </a:t>
            </a:r>
            <a:r>
              <a:rPr sz="6800" spc="-140" dirty="0">
                <a:solidFill>
                  <a:srgbClr val="031C36"/>
                </a:solidFill>
              </a:rPr>
              <a:t>Failures</a:t>
            </a:r>
            <a:r>
              <a:rPr sz="6800" spc="-330" dirty="0">
                <a:solidFill>
                  <a:srgbClr val="031C36"/>
                </a:solidFill>
              </a:rPr>
              <a:t> </a:t>
            </a:r>
            <a:r>
              <a:rPr sz="6800" spc="-40" dirty="0">
                <a:solidFill>
                  <a:srgbClr val="082449"/>
                </a:solidFill>
              </a:rPr>
              <a:t>Trigger</a:t>
            </a:r>
            <a:r>
              <a:rPr sz="6800" spc="-350" dirty="0">
                <a:solidFill>
                  <a:srgbClr val="082449"/>
                </a:solidFill>
              </a:rPr>
              <a:t> </a:t>
            </a:r>
            <a:r>
              <a:rPr sz="6800" spc="-10" dirty="0">
                <a:solidFill>
                  <a:srgbClr val="031C38"/>
                </a:solidFill>
              </a:rPr>
              <a:t>Anger</a:t>
            </a:r>
            <a:endParaRPr sz="6800"/>
          </a:p>
        </p:txBody>
      </p:sp>
      <p:sp>
        <p:nvSpPr>
          <p:cNvPr id="5" name="object 5"/>
          <p:cNvSpPr txBox="1"/>
          <p:nvPr/>
        </p:nvSpPr>
        <p:spPr>
          <a:xfrm>
            <a:off x="961144" y="4593166"/>
            <a:ext cx="51435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95" dirty="0">
                <a:solidFill>
                  <a:srgbClr val="0C0C0C"/>
                </a:solidFill>
                <a:latin typeface="Courier New"/>
                <a:cs typeface="Courier New"/>
              </a:rPr>
              <a:t>1500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364" y="4693859"/>
            <a:ext cx="180975" cy="6965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740"/>
              </a:spcBef>
            </a:pPr>
            <a:r>
              <a:rPr sz="2050" spc="-320" dirty="0">
                <a:solidFill>
                  <a:srgbClr val="071126"/>
                </a:solidFill>
                <a:latin typeface="Courier New"/>
                <a:cs typeface="Courier New"/>
              </a:rPr>
              <a:t>z</a:t>
            </a:r>
            <a:endParaRPr sz="2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450" spc="-50" dirty="0">
                <a:solidFill>
                  <a:srgbClr val="081526"/>
                </a:solidFill>
                <a:latin typeface="Comic Sans MS"/>
                <a:cs typeface="Comic Sans MS"/>
              </a:rPr>
              <a:t>0</a:t>
            </a:r>
            <a:endParaRPr sz="14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0477" y="3071988"/>
            <a:ext cx="392811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sz="2350" spc="2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51C34"/>
                </a:solidFill>
                <a:latin typeface="Arial MT"/>
                <a:cs typeface="Arial MT"/>
              </a:rPr>
              <a:t>Word</a:t>
            </a:r>
            <a:r>
              <a:rPr sz="2350" spc="229" dirty="0">
                <a:solidFill>
                  <a:srgbClr val="051C34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081A2F"/>
                </a:solidFill>
                <a:latin typeface="Arial MT"/>
                <a:cs typeface="Arial MT"/>
              </a:rPr>
              <a:t>Counts</a:t>
            </a:r>
            <a:r>
              <a:rPr sz="2350" spc="170" dirty="0">
                <a:solidFill>
                  <a:srgbClr val="081A2F"/>
                </a:solidFill>
                <a:latin typeface="Arial MT"/>
                <a:cs typeface="Arial MT"/>
              </a:rPr>
              <a:t> </a:t>
            </a:r>
            <a:r>
              <a:rPr sz="2350" spc="-50" dirty="0">
                <a:solidFill>
                  <a:srgbClr val="1A1A1A"/>
                </a:solidFill>
                <a:latin typeface="Arial MT"/>
                <a:cs typeface="Arial MT"/>
              </a:rPr>
              <a:t>(NRC)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831" y="3692525"/>
            <a:ext cx="50800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70" dirty="0">
                <a:solidFill>
                  <a:srgbClr val="0F0F0F"/>
                </a:solidFill>
                <a:latin typeface="Comic Sans MS"/>
                <a:cs typeface="Comic Sans MS"/>
              </a:rPr>
              <a:t>2000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5053" y="3540125"/>
            <a:ext cx="151130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88365" algn="l"/>
              </a:tabLst>
            </a:pPr>
            <a:r>
              <a:rPr sz="1850" spc="-10" dirty="0">
                <a:solidFill>
                  <a:srgbClr val="181818"/>
                </a:solidFill>
                <a:latin typeface="Comic Sans MS"/>
                <a:cs typeface="Comic Sans MS"/>
              </a:rPr>
              <a:t>&gt;200O</a:t>
            </a:r>
            <a:r>
              <a:rPr sz="1850" dirty="0">
                <a:solidFill>
                  <a:srgbClr val="181818"/>
                </a:solidFill>
                <a:latin typeface="Comic Sans MS"/>
                <a:cs typeface="Comic Sans MS"/>
              </a:rPr>
              <a:t>	</a:t>
            </a:r>
            <a:r>
              <a:rPr sz="1850" spc="-145" dirty="0">
                <a:solidFill>
                  <a:srgbClr val="0F0F0F"/>
                </a:solidFill>
                <a:latin typeface="Comic Sans MS"/>
                <a:cs typeface="Comic Sans MS"/>
              </a:rPr>
              <a:t>&gt;200O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5630" y="5542844"/>
            <a:ext cx="5048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0" dirty="0">
                <a:solidFill>
                  <a:srgbClr val="0C0C0C"/>
                </a:solidFill>
                <a:latin typeface="Arial MT"/>
                <a:cs typeface="Arial MT"/>
              </a:rPr>
              <a:t>1000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5383" y="6469944"/>
            <a:ext cx="3930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282828"/>
                </a:solidFill>
                <a:latin typeface="Arial MT"/>
                <a:cs typeface="Arial MT"/>
              </a:rPr>
              <a:t>500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2196" y="4133144"/>
            <a:ext cx="63373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080808"/>
                </a:solidFill>
                <a:latin typeface="Arial MT"/>
                <a:cs typeface="Arial MT"/>
              </a:rPr>
              <a:t>•1700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3025" y="5723466"/>
            <a:ext cx="53022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65" dirty="0">
                <a:solidFill>
                  <a:srgbClr val="1A1A1A"/>
                </a:solidFill>
                <a:latin typeface="Courier New"/>
                <a:cs typeface="Courier New"/>
              </a:rPr>
              <a:t>TOO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12679" y="5993694"/>
            <a:ext cx="3930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111111"/>
                </a:solidFill>
                <a:latin typeface="Arial MT"/>
                <a:cs typeface="Arial MT"/>
              </a:rPr>
              <a:t>680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8979" y="5993694"/>
            <a:ext cx="3778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65" dirty="0">
                <a:solidFill>
                  <a:srgbClr val="080808"/>
                </a:solidFill>
                <a:latin typeface="Arial MT"/>
                <a:cs typeface="Arial MT"/>
              </a:rPr>
              <a:t>660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0519" y="8573205"/>
            <a:ext cx="97345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0" dirty="0">
                <a:solidFill>
                  <a:srgbClr val="031123"/>
                </a:solidFill>
                <a:latin typeface="Comic Sans MS"/>
                <a:cs typeface="Comic Sans MS"/>
              </a:rPr>
              <a:t>Emotion</a:t>
            </a:r>
            <a:endParaRPr sz="195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4604" marR="638810" indent="-1905">
              <a:lnSpc>
                <a:spcPct val="107300"/>
              </a:lnSpc>
              <a:spcBef>
                <a:spcPts val="265"/>
              </a:spcBef>
            </a:pPr>
            <a:r>
              <a:rPr sz="3550" spc="75" dirty="0">
                <a:solidFill>
                  <a:srgbClr val="051C3B"/>
                </a:solidFill>
              </a:rPr>
              <a:t>Top</a:t>
            </a:r>
            <a:r>
              <a:rPr sz="3550" spc="-160" dirty="0">
                <a:solidFill>
                  <a:srgbClr val="051C3B"/>
                </a:solidFill>
              </a:rPr>
              <a:t> </a:t>
            </a:r>
            <a:r>
              <a:rPr sz="3550" spc="114" dirty="0">
                <a:solidFill>
                  <a:srgbClr val="001831"/>
                </a:solidFill>
              </a:rPr>
              <a:t>Keywords</a:t>
            </a:r>
            <a:r>
              <a:rPr sz="3550" spc="150" dirty="0">
                <a:solidFill>
                  <a:srgbClr val="001831"/>
                </a:solidFill>
              </a:rPr>
              <a:t> </a:t>
            </a:r>
            <a:r>
              <a:rPr sz="3550" spc="-10" dirty="0">
                <a:solidFill>
                  <a:srgbClr val="071D3D"/>
                </a:solidFill>
              </a:rPr>
              <a:t>(TF-IDF): </a:t>
            </a:r>
            <a:r>
              <a:rPr spc="-50" dirty="0">
                <a:solidFill>
                  <a:srgbClr val="111111"/>
                </a:solidFill>
              </a:rPr>
              <a:t>Workout,</a:t>
            </a:r>
            <a:r>
              <a:rPr spc="-190" dirty="0">
                <a:solidFill>
                  <a:srgbClr val="111111"/>
                </a:solidFill>
              </a:rPr>
              <a:t> </a:t>
            </a:r>
            <a:r>
              <a:rPr spc="-85" dirty="0">
                <a:solidFill>
                  <a:srgbClr val="0F0F0F"/>
                </a:solidFill>
              </a:rPr>
              <a:t>Calorie,</a:t>
            </a:r>
            <a:r>
              <a:rPr spc="-110" dirty="0">
                <a:solidFill>
                  <a:srgbClr val="0F0F0F"/>
                </a:solidFill>
              </a:rPr>
              <a:t> </a:t>
            </a:r>
            <a:r>
              <a:rPr spc="-70" dirty="0"/>
              <a:t>Track,</a:t>
            </a:r>
            <a:r>
              <a:rPr spc="-195" dirty="0"/>
              <a:t> </a:t>
            </a:r>
            <a:r>
              <a:rPr spc="-30" dirty="0"/>
              <a:t>Offline, </a:t>
            </a:r>
            <a:r>
              <a:rPr sz="3750" spc="-55" dirty="0">
                <a:solidFill>
                  <a:srgbClr val="05111F"/>
                </a:solidFill>
              </a:rPr>
              <a:t>Sync,</a:t>
            </a:r>
            <a:r>
              <a:rPr sz="3750" spc="-175" dirty="0">
                <a:solidFill>
                  <a:srgbClr val="05111F"/>
                </a:solidFill>
              </a:rPr>
              <a:t> </a:t>
            </a:r>
            <a:r>
              <a:rPr sz="3750" spc="-10" dirty="0"/>
              <a:t>Timer.</a:t>
            </a:r>
            <a:endParaRPr sz="3750"/>
          </a:p>
          <a:p>
            <a:pPr marL="12700">
              <a:lnSpc>
                <a:spcPct val="100000"/>
              </a:lnSpc>
              <a:spcBef>
                <a:spcPts val="3200"/>
              </a:spcBef>
            </a:pPr>
            <a:r>
              <a:rPr sz="3650" dirty="0">
                <a:solidFill>
                  <a:srgbClr val="051834"/>
                </a:solidFill>
              </a:rPr>
              <a:t>The</a:t>
            </a:r>
            <a:r>
              <a:rPr sz="3650" spc="-110" dirty="0">
                <a:solidFill>
                  <a:srgbClr val="051834"/>
                </a:solidFill>
              </a:rPr>
              <a:t> </a:t>
            </a:r>
            <a:r>
              <a:rPr sz="3650" dirty="0">
                <a:solidFill>
                  <a:srgbClr val="051C3D"/>
                </a:solidFill>
              </a:rPr>
              <a:t>Emotional</a:t>
            </a:r>
            <a:r>
              <a:rPr sz="3650" spc="105" dirty="0">
                <a:solidFill>
                  <a:srgbClr val="051C3D"/>
                </a:solidFill>
              </a:rPr>
              <a:t> </a:t>
            </a:r>
            <a:r>
              <a:rPr sz="3650" spc="65" dirty="0">
                <a:solidFill>
                  <a:srgbClr val="071C38"/>
                </a:solidFill>
              </a:rPr>
              <a:t>Split:</a:t>
            </a:r>
            <a:endParaRPr sz="3650"/>
          </a:p>
          <a:p>
            <a:pPr marL="571500" indent="-381635">
              <a:lnSpc>
                <a:spcPct val="100000"/>
              </a:lnSpc>
              <a:spcBef>
                <a:spcPts val="720"/>
              </a:spcBef>
              <a:buClr>
                <a:srgbClr val="01BA90"/>
              </a:buClr>
              <a:buChar char="•"/>
              <a:tabLst>
                <a:tab pos="571500" algn="l"/>
              </a:tabLst>
            </a:pPr>
            <a:r>
              <a:rPr sz="3550" spc="90" dirty="0">
                <a:solidFill>
                  <a:srgbClr val="0FB88E"/>
                </a:solidFill>
              </a:rPr>
              <a:t>Trust</a:t>
            </a:r>
            <a:r>
              <a:rPr sz="3550" spc="130" dirty="0">
                <a:solidFill>
                  <a:srgbClr val="0FB88E"/>
                </a:solidFill>
              </a:rPr>
              <a:t> </a:t>
            </a:r>
            <a:r>
              <a:rPr sz="3550" spc="-220" dirty="0">
                <a:solidFill>
                  <a:srgbClr val="07BA95"/>
                </a:solidFill>
              </a:rPr>
              <a:t>&amp;</a:t>
            </a:r>
            <a:r>
              <a:rPr sz="3550" spc="-100" dirty="0">
                <a:solidFill>
                  <a:srgbClr val="07BA95"/>
                </a:solidFill>
              </a:rPr>
              <a:t> </a:t>
            </a:r>
            <a:r>
              <a:rPr sz="3550" spc="90" dirty="0">
                <a:solidFill>
                  <a:srgbClr val="08B18A"/>
                </a:solidFill>
              </a:rPr>
              <a:t>Joy</a:t>
            </a:r>
            <a:r>
              <a:rPr sz="3550" spc="55" dirty="0">
                <a:solidFill>
                  <a:srgbClr val="08B18A"/>
                </a:solidFill>
              </a:rPr>
              <a:t> </a:t>
            </a:r>
            <a:r>
              <a:rPr sz="3550" spc="80" dirty="0">
                <a:solidFill>
                  <a:srgbClr val="08B18A"/>
                </a:solidFill>
              </a:rPr>
              <a:t>(Positive):</a:t>
            </a:r>
            <a:r>
              <a:rPr sz="3550" spc="135" dirty="0">
                <a:solidFill>
                  <a:srgbClr val="08B18A"/>
                </a:solidFill>
              </a:rPr>
              <a:t> </a:t>
            </a:r>
            <a:r>
              <a:rPr sz="3550" dirty="0">
                <a:solidFill>
                  <a:srgbClr val="111111"/>
                </a:solidFill>
              </a:rPr>
              <a:t>Linked</a:t>
            </a:r>
            <a:r>
              <a:rPr sz="3550" spc="175" dirty="0">
                <a:solidFill>
                  <a:srgbClr val="111111"/>
                </a:solidFill>
              </a:rPr>
              <a:t> </a:t>
            </a:r>
            <a:r>
              <a:rPr sz="3550" spc="55" dirty="0">
                <a:solidFill>
                  <a:srgbClr val="181818"/>
                </a:solidFill>
              </a:rPr>
              <a:t>to</a:t>
            </a:r>
            <a:endParaRPr sz="3550"/>
          </a:p>
          <a:p>
            <a:pPr marL="558165">
              <a:lnSpc>
                <a:spcPct val="100000"/>
              </a:lnSpc>
              <a:spcBef>
                <a:spcPts val="190"/>
              </a:spcBef>
            </a:pPr>
            <a:r>
              <a:rPr sz="3750" spc="-95" dirty="0">
                <a:solidFill>
                  <a:srgbClr val="0F0F0F"/>
                </a:solidFill>
              </a:rPr>
              <a:t>Calorie</a:t>
            </a:r>
            <a:r>
              <a:rPr sz="3750" spc="-165" dirty="0">
                <a:solidFill>
                  <a:srgbClr val="0F0F0F"/>
                </a:solidFill>
              </a:rPr>
              <a:t> </a:t>
            </a:r>
            <a:r>
              <a:rPr sz="3750" spc="-20" dirty="0">
                <a:solidFill>
                  <a:srgbClr val="161616"/>
                </a:solidFill>
              </a:rPr>
              <a:t>Nutrition</a:t>
            </a:r>
            <a:r>
              <a:rPr sz="3750" spc="-125" dirty="0">
                <a:solidFill>
                  <a:srgbClr val="161616"/>
                </a:solidFill>
              </a:rPr>
              <a:t> </a:t>
            </a:r>
            <a:r>
              <a:rPr sz="3750" spc="-325" dirty="0">
                <a:solidFill>
                  <a:srgbClr val="081A34"/>
                </a:solidFill>
              </a:rPr>
              <a:t>&amp;</a:t>
            </a:r>
            <a:r>
              <a:rPr sz="3750" spc="-55" dirty="0">
                <a:solidFill>
                  <a:srgbClr val="081A34"/>
                </a:solidFill>
              </a:rPr>
              <a:t> </a:t>
            </a:r>
            <a:r>
              <a:rPr sz="3750" spc="-25" dirty="0">
                <a:solidFill>
                  <a:srgbClr val="131313"/>
                </a:solidFill>
              </a:rPr>
              <a:t>UI.</a:t>
            </a:r>
            <a:endParaRPr sz="3750"/>
          </a:p>
          <a:p>
            <a:pPr marL="559435" marR="136525" indent="-370205">
              <a:lnSpc>
                <a:spcPct val="104800"/>
              </a:lnSpc>
              <a:spcBef>
                <a:spcPts val="445"/>
              </a:spcBef>
              <a:buChar char="•"/>
              <a:tabLst>
                <a:tab pos="559435" algn="l"/>
                <a:tab pos="582930" algn="l"/>
              </a:tabLst>
            </a:pPr>
            <a:r>
              <a:rPr sz="3550" dirty="0">
                <a:solidFill>
                  <a:srgbClr val="FB5654"/>
                </a:solidFill>
              </a:rPr>
              <a:t>	</a:t>
            </a:r>
            <a:r>
              <a:rPr sz="3550" dirty="0">
                <a:solidFill>
                  <a:srgbClr val="F44F4F"/>
                </a:solidFill>
              </a:rPr>
              <a:t>Anger</a:t>
            </a:r>
            <a:r>
              <a:rPr sz="3550" spc="300" dirty="0">
                <a:solidFill>
                  <a:srgbClr val="F44F4F"/>
                </a:solidFill>
              </a:rPr>
              <a:t> </a:t>
            </a:r>
            <a:r>
              <a:rPr sz="3550" spc="-220" dirty="0">
                <a:solidFill>
                  <a:srgbClr val="F45956"/>
                </a:solidFill>
              </a:rPr>
              <a:t>&amp;</a:t>
            </a:r>
            <a:r>
              <a:rPr sz="3550" spc="-5" dirty="0">
                <a:solidFill>
                  <a:srgbClr val="F45956"/>
                </a:solidFill>
              </a:rPr>
              <a:t> </a:t>
            </a:r>
            <a:r>
              <a:rPr sz="3550" dirty="0">
                <a:solidFill>
                  <a:srgbClr val="E84F4F"/>
                </a:solidFill>
              </a:rPr>
              <a:t>Sadness</a:t>
            </a:r>
            <a:r>
              <a:rPr sz="3550" spc="290" dirty="0">
                <a:solidFill>
                  <a:srgbClr val="E84F4F"/>
                </a:solidFill>
              </a:rPr>
              <a:t> </a:t>
            </a:r>
            <a:r>
              <a:rPr sz="3550" spc="45" dirty="0">
                <a:solidFill>
                  <a:srgbClr val="ED5957"/>
                </a:solidFill>
              </a:rPr>
              <a:t>(Negative): </a:t>
            </a:r>
            <a:r>
              <a:rPr sz="3650" dirty="0">
                <a:solidFill>
                  <a:srgbClr val="0F0F0F"/>
                </a:solidFill>
              </a:rPr>
              <a:t>Tightly clustered</a:t>
            </a:r>
            <a:r>
              <a:rPr sz="3650" spc="-60" dirty="0">
                <a:solidFill>
                  <a:srgbClr val="0F0F0F"/>
                </a:solidFill>
              </a:rPr>
              <a:t> </a:t>
            </a:r>
            <a:r>
              <a:rPr sz="3650" dirty="0">
                <a:solidFill>
                  <a:srgbClr val="151515"/>
                </a:solidFill>
              </a:rPr>
              <a:t>around</a:t>
            </a:r>
            <a:r>
              <a:rPr sz="3650" spc="55" dirty="0">
                <a:solidFill>
                  <a:srgbClr val="151515"/>
                </a:solidFill>
              </a:rPr>
              <a:t> </a:t>
            </a:r>
            <a:r>
              <a:rPr sz="3650" spc="-10" dirty="0">
                <a:solidFill>
                  <a:srgbClr val="0F0F0F"/>
                </a:solidFill>
              </a:rPr>
              <a:t>'Offline </a:t>
            </a:r>
            <a:r>
              <a:rPr sz="3750" spc="-20" dirty="0"/>
              <a:t>Mode'</a:t>
            </a:r>
            <a:r>
              <a:rPr sz="3750" spc="-190" dirty="0"/>
              <a:t> </a:t>
            </a:r>
            <a:r>
              <a:rPr sz="3750" spc="-80" dirty="0">
                <a:solidFill>
                  <a:srgbClr val="030C1C"/>
                </a:solidFill>
              </a:rPr>
              <a:t>and</a:t>
            </a:r>
            <a:r>
              <a:rPr sz="3750" spc="-180" dirty="0">
                <a:solidFill>
                  <a:srgbClr val="030C1C"/>
                </a:solidFill>
              </a:rPr>
              <a:t> </a:t>
            </a:r>
            <a:r>
              <a:rPr sz="3750" spc="-10" dirty="0">
                <a:solidFill>
                  <a:srgbClr val="111111"/>
                </a:solidFill>
              </a:rPr>
              <a:t>'Bugs'.</a:t>
            </a:r>
            <a:endParaRPr sz="3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5400" y="7416800"/>
            <a:ext cx="901700" cy="698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5400" y="6477000"/>
            <a:ext cx="1854200" cy="685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5400" y="5524500"/>
            <a:ext cx="1841500" cy="698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22700" y="4572000"/>
            <a:ext cx="3784600" cy="723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22700" y="3619500"/>
            <a:ext cx="6477000" cy="723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71400" y="7899400"/>
            <a:ext cx="3987800" cy="889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359216" y="3911600"/>
            <a:ext cx="0" cy="4009390"/>
          </a:xfrm>
          <a:custGeom>
            <a:avLst/>
            <a:gdLst/>
            <a:ahLst/>
            <a:cxnLst/>
            <a:rect l="l" t="t" r="r" b="b"/>
            <a:pathLst>
              <a:path h="4009390">
                <a:moveTo>
                  <a:pt x="0" y="40089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2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588313" y="3911600"/>
            <a:ext cx="0" cy="4110990"/>
          </a:xfrm>
          <a:custGeom>
            <a:avLst/>
            <a:gdLst/>
            <a:ahLst/>
            <a:cxnLst/>
            <a:rect l="l" t="t" r="r" b="b"/>
            <a:pathLst>
              <a:path h="4110990">
                <a:moveTo>
                  <a:pt x="0" y="41105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2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348633" y="3922183"/>
            <a:ext cx="4149090" cy="0"/>
          </a:xfrm>
          <a:custGeom>
            <a:avLst/>
            <a:gdLst/>
            <a:ahLst/>
            <a:cxnLst/>
            <a:rect l="l" t="t" r="r" b="b"/>
            <a:pathLst>
              <a:path w="4149090">
                <a:moveTo>
                  <a:pt x="0" y="0"/>
                </a:moveTo>
                <a:lnTo>
                  <a:pt x="4148666" y="0"/>
                </a:lnTo>
              </a:path>
            </a:pathLst>
          </a:custGeom>
          <a:ln w="21166">
            <a:solidFill>
              <a:srgbClr val="132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348633" y="8011583"/>
            <a:ext cx="4250690" cy="0"/>
          </a:xfrm>
          <a:custGeom>
            <a:avLst/>
            <a:gdLst/>
            <a:ahLst/>
            <a:cxnLst/>
            <a:rect l="l" t="t" r="r" b="b"/>
            <a:pathLst>
              <a:path w="4250690">
                <a:moveTo>
                  <a:pt x="0" y="0"/>
                </a:moveTo>
                <a:lnTo>
                  <a:pt x="4250266" y="0"/>
                </a:lnTo>
              </a:path>
            </a:pathLst>
          </a:custGeom>
          <a:ln w="21166">
            <a:solidFill>
              <a:srgbClr val="132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096" rIns="0" bIns="0" rtlCol="0">
            <a:spAutoFit/>
          </a:bodyPr>
          <a:lstStyle/>
          <a:p>
            <a:pPr marL="295910">
              <a:lnSpc>
                <a:spcPts val="6815"/>
              </a:lnSpc>
              <a:spcBef>
                <a:spcPts val="130"/>
              </a:spcBef>
            </a:pPr>
            <a:r>
              <a:rPr sz="6150" dirty="0">
                <a:solidFill>
                  <a:srgbClr val="0C284B"/>
                </a:solidFill>
              </a:rPr>
              <a:t>The</a:t>
            </a:r>
            <a:r>
              <a:rPr sz="6150" spc="145" dirty="0">
                <a:solidFill>
                  <a:srgbClr val="0C284B"/>
                </a:solidFill>
              </a:rPr>
              <a:t> </a:t>
            </a:r>
            <a:r>
              <a:rPr sz="6150" spc="-45" dirty="0">
                <a:solidFill>
                  <a:srgbClr val="0E2849"/>
                </a:solidFill>
              </a:rPr>
              <a:t>Ask'</a:t>
            </a:r>
            <a:r>
              <a:rPr sz="6150" spc="-385" dirty="0">
                <a:solidFill>
                  <a:srgbClr val="0E2849"/>
                </a:solidFill>
              </a:rPr>
              <a:t> </a:t>
            </a:r>
            <a:r>
              <a:rPr sz="6150" spc="-245" dirty="0">
                <a:solidFill>
                  <a:srgbClr val="0E2A4F"/>
                </a:solidFill>
              </a:rPr>
              <a:t>Gap:</a:t>
            </a:r>
            <a:r>
              <a:rPr sz="6150" spc="-305" dirty="0">
                <a:solidFill>
                  <a:srgbClr val="0E2A4F"/>
                </a:solidFill>
              </a:rPr>
              <a:t> </a:t>
            </a:r>
            <a:r>
              <a:rPr sz="6150" spc="-45" dirty="0">
                <a:solidFill>
                  <a:srgbClr val="0A2644"/>
                </a:solidFill>
              </a:rPr>
              <a:t>What</a:t>
            </a:r>
            <a:r>
              <a:rPr sz="6150" spc="-385" dirty="0">
                <a:solidFill>
                  <a:srgbClr val="0A2644"/>
                </a:solidFill>
              </a:rPr>
              <a:t> </a:t>
            </a:r>
            <a:r>
              <a:rPr sz="6150" spc="-40" dirty="0">
                <a:solidFill>
                  <a:srgbClr val="08213F"/>
                </a:solidFill>
              </a:rPr>
              <a:t>Users</a:t>
            </a:r>
            <a:r>
              <a:rPr sz="6150" spc="-245" dirty="0">
                <a:solidFill>
                  <a:srgbClr val="08213F"/>
                </a:solidFill>
              </a:rPr>
              <a:t> </a:t>
            </a:r>
            <a:r>
              <a:rPr sz="6150" spc="-25" dirty="0">
                <a:solidFill>
                  <a:srgbClr val="0A2644"/>
                </a:solidFill>
              </a:rPr>
              <a:t>Are</a:t>
            </a:r>
            <a:endParaRPr sz="6150"/>
          </a:p>
          <a:p>
            <a:pPr marL="276225">
              <a:lnSpc>
                <a:spcPts val="6995"/>
              </a:lnSpc>
            </a:pPr>
            <a:r>
              <a:rPr sz="6300" dirty="0">
                <a:solidFill>
                  <a:srgbClr val="0A213D"/>
                </a:solidFill>
              </a:rPr>
              <a:t>Explicitly</a:t>
            </a:r>
            <a:r>
              <a:rPr sz="6300" spc="-430" dirty="0">
                <a:solidFill>
                  <a:srgbClr val="0A213D"/>
                </a:solidFill>
              </a:rPr>
              <a:t> </a:t>
            </a:r>
            <a:r>
              <a:rPr sz="6300" spc="-55" dirty="0">
                <a:solidFill>
                  <a:srgbClr val="08213F"/>
                </a:solidFill>
              </a:rPr>
              <a:t>Requesting</a:t>
            </a:r>
            <a:endParaRPr sz="6300"/>
          </a:p>
        </p:txBody>
      </p:sp>
      <p:sp>
        <p:nvSpPr>
          <p:cNvPr id="13" name="object 13"/>
          <p:cNvSpPr txBox="1"/>
          <p:nvPr/>
        </p:nvSpPr>
        <p:spPr>
          <a:xfrm>
            <a:off x="3471738" y="2843741"/>
            <a:ext cx="56591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Arial MT"/>
                <a:cs typeface="Arial MT"/>
              </a:rPr>
              <a:t>Top</a:t>
            </a:r>
            <a:r>
              <a:rPr sz="2700" spc="-1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Feature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Requests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(Non-</a:t>
            </a:r>
            <a:r>
              <a:rPr sz="2700" spc="-10" dirty="0">
                <a:latin typeface="Arial MT"/>
                <a:cs typeface="Arial MT"/>
              </a:rPr>
              <a:t>General)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3463" y="3796947"/>
            <a:ext cx="262382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latin typeface="Arial MT"/>
                <a:cs typeface="Arial MT"/>
              </a:rPr>
              <a:t>Wearable_integration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4214" y="4751916"/>
            <a:ext cx="188595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0" dirty="0">
                <a:latin typeface="Arial MT"/>
                <a:cs typeface="Arial MT"/>
              </a:rPr>
              <a:t>Social_features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6753" y="5680427"/>
            <a:ext cx="173228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70" dirty="0">
                <a:latin typeface="Arial MT"/>
                <a:cs typeface="Arial MT"/>
              </a:rPr>
              <a:t>Meal_planning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4671" y="6637866"/>
            <a:ext cx="271018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0" dirty="0">
                <a:latin typeface="Arial MT"/>
                <a:cs typeface="Arial MT"/>
              </a:rPr>
              <a:t>Water_intake_tracking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31483" y="7575197"/>
            <a:ext cx="163766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7419" algn="l"/>
              </a:tabLst>
            </a:pPr>
            <a:r>
              <a:rPr sz="2150" spc="-10" dirty="0">
                <a:latin typeface="Arial MT"/>
                <a:cs typeface="Arial MT"/>
              </a:rPr>
              <a:t>Offline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mode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23699" y="8274050"/>
            <a:ext cx="22415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0" dirty="0">
                <a:latin typeface="Courier New"/>
                <a:cs typeface="Courier New"/>
              </a:rPr>
              <a:t>0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92319" y="8326966"/>
            <a:ext cx="16129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30" dirty="0">
                <a:latin typeface="Comic Sans MS"/>
                <a:cs typeface="Comic Sans MS"/>
              </a:rPr>
              <a:t>5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2537" y="5622572"/>
            <a:ext cx="1905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75" dirty="0">
                <a:solidFill>
                  <a:srgbClr val="051D3F"/>
                </a:solidFill>
                <a:latin typeface="Arial MT"/>
                <a:cs typeface="Arial MT"/>
              </a:rPr>
              <a:t>6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52869" y="6583891"/>
            <a:ext cx="1866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80" dirty="0">
                <a:solidFill>
                  <a:srgbClr val="051C3B"/>
                </a:solidFill>
                <a:latin typeface="Arial MT"/>
                <a:cs typeface="Arial MT"/>
              </a:rPr>
              <a:t>6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8074" y="8212598"/>
            <a:ext cx="2494280" cy="90360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1030"/>
              </a:spcBef>
              <a:tabLst>
                <a:tab pos="1879600" algn="l"/>
              </a:tabLst>
            </a:pPr>
            <a:r>
              <a:rPr sz="2050" spc="-25" dirty="0">
                <a:latin typeface="Comic Sans MS"/>
                <a:cs typeface="Comic Sans MS"/>
              </a:rPr>
              <a:t>10</a:t>
            </a:r>
            <a:r>
              <a:rPr sz="2050" dirty="0">
                <a:latin typeface="Comic Sans MS"/>
                <a:cs typeface="Comic Sans MS"/>
              </a:rPr>
              <a:t>	</a:t>
            </a:r>
            <a:r>
              <a:rPr sz="2050" spc="-25" dirty="0">
                <a:latin typeface="Comic Sans MS"/>
                <a:cs typeface="Comic Sans MS"/>
              </a:rPr>
              <a:t>15</a:t>
            </a:r>
            <a:endParaRPr sz="20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150" dirty="0">
                <a:latin typeface="Arial MT"/>
                <a:cs typeface="Arial MT"/>
              </a:rPr>
              <a:t>Number</a:t>
            </a:r>
            <a:r>
              <a:rPr sz="2150" spc="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Mentions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21961" y="8326966"/>
            <a:ext cx="32004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5" dirty="0">
                <a:latin typeface="Arial MT"/>
                <a:cs typeface="Arial MT"/>
              </a:rPr>
              <a:t>20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65187" y="3721452"/>
            <a:ext cx="42799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25" dirty="0">
                <a:solidFill>
                  <a:srgbClr val="05213F"/>
                </a:solidFill>
                <a:latin typeface="Arial MT"/>
                <a:cs typeface="Arial MT"/>
              </a:rPr>
              <a:t>21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45312" y="8326966"/>
            <a:ext cx="33210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5" dirty="0">
                <a:latin typeface="Comic Sans MS"/>
                <a:cs typeface="Comic Sans MS"/>
              </a:rPr>
              <a:t>25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84549" y="4459788"/>
            <a:ext cx="3485515" cy="30962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22225" marR="5080" indent="-10160">
              <a:lnSpc>
                <a:spcPct val="108800"/>
              </a:lnSpc>
              <a:spcBef>
                <a:spcPts val="45"/>
              </a:spcBef>
              <a:tabLst>
                <a:tab pos="2191385" algn="l"/>
              </a:tabLst>
            </a:pPr>
            <a:r>
              <a:rPr sz="2700" dirty="0">
                <a:latin typeface="Arial MT"/>
                <a:cs typeface="Arial MT"/>
              </a:rPr>
              <a:t>Strategic</a:t>
            </a:r>
            <a:r>
              <a:rPr sz="2700" spc="36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Risk: </a:t>
            </a:r>
            <a:r>
              <a:rPr sz="2600" dirty="0">
                <a:latin typeface="Arial MT"/>
                <a:cs typeface="Arial MT"/>
              </a:rPr>
              <a:t>Competitors</a:t>
            </a:r>
            <a:r>
              <a:rPr sz="2600" spc="5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offer </a:t>
            </a:r>
            <a:r>
              <a:rPr sz="2750" spc="-10" dirty="0">
                <a:latin typeface="Arial MT"/>
                <a:cs typeface="Arial MT"/>
              </a:rPr>
              <a:t>Offline</a:t>
            </a:r>
            <a:r>
              <a:rPr sz="2750" spc="-15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Mode</a:t>
            </a:r>
            <a:r>
              <a:rPr sz="2750" spc="-16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and </a:t>
            </a:r>
            <a:r>
              <a:rPr sz="2550" dirty="0">
                <a:latin typeface="Arial MT"/>
                <a:cs typeface="Arial MT"/>
              </a:rPr>
              <a:t>Wearables.</a:t>
            </a:r>
            <a:r>
              <a:rPr sz="2550" spc="15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FitLife</a:t>
            </a:r>
            <a:r>
              <a:rPr sz="2550" spc="13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risks </a:t>
            </a:r>
            <a:r>
              <a:rPr sz="2700" spc="-10" dirty="0">
                <a:latin typeface="Arial MT"/>
                <a:cs typeface="Arial MT"/>
              </a:rPr>
              <a:t>obsolescence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0" dirty="0">
                <a:latin typeface="Arial MT"/>
                <a:cs typeface="Arial MT"/>
              </a:rPr>
              <a:t>without </a:t>
            </a:r>
            <a:r>
              <a:rPr sz="2550" spc="55" dirty="0">
                <a:latin typeface="Arial MT"/>
                <a:cs typeface="Arial MT"/>
              </a:rPr>
              <a:t>these</a:t>
            </a:r>
            <a:r>
              <a:rPr sz="2550" spc="20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'hygiene' </a:t>
            </a:r>
            <a:r>
              <a:rPr sz="2700" spc="-10" dirty="0">
                <a:latin typeface="Arial MT"/>
                <a:cs typeface="Arial MT"/>
              </a:rPr>
              <a:t>features.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2362200"/>
            <a:ext cx="15811500" cy="5905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135" rIns="0" bIns="0" rtlCol="0">
            <a:spAutoFit/>
          </a:bodyPr>
          <a:lstStyle/>
          <a:p>
            <a:pPr marL="69850" marR="5080" indent="-13970">
              <a:lnSpc>
                <a:spcPts val="5900"/>
              </a:lnSpc>
              <a:spcBef>
                <a:spcPts val="865"/>
              </a:spcBef>
            </a:pPr>
            <a:r>
              <a:rPr spc="-330" dirty="0">
                <a:solidFill>
                  <a:srgbClr val="0A2A46"/>
                </a:solidFill>
              </a:rPr>
              <a:t>RICE</a:t>
            </a:r>
            <a:r>
              <a:rPr spc="-240" dirty="0">
                <a:solidFill>
                  <a:srgbClr val="0A2A46"/>
                </a:solidFill>
              </a:rPr>
              <a:t> </a:t>
            </a:r>
            <a:r>
              <a:rPr spc="75" dirty="0"/>
              <a:t>Prioritization:</a:t>
            </a:r>
            <a:r>
              <a:rPr spc="-685" dirty="0"/>
              <a:t> </a:t>
            </a:r>
            <a:r>
              <a:rPr spc="85" dirty="0">
                <a:solidFill>
                  <a:srgbClr val="0C2A4B"/>
                </a:solidFill>
              </a:rPr>
              <a:t>Identifying</a:t>
            </a:r>
            <a:r>
              <a:rPr spc="-40" dirty="0">
                <a:solidFill>
                  <a:srgbClr val="0C2A4B"/>
                </a:solidFill>
              </a:rPr>
              <a:t> </a:t>
            </a:r>
            <a:r>
              <a:rPr spc="145" dirty="0">
                <a:solidFill>
                  <a:srgbClr val="0C2D52"/>
                </a:solidFill>
              </a:rPr>
              <a:t>the</a:t>
            </a:r>
            <a:r>
              <a:rPr spc="-395" dirty="0">
                <a:solidFill>
                  <a:srgbClr val="0C2D52"/>
                </a:solidFill>
              </a:rPr>
              <a:t> </a:t>
            </a:r>
            <a:r>
              <a:rPr dirty="0">
                <a:solidFill>
                  <a:srgbClr val="0E2A4B"/>
                </a:solidFill>
              </a:rPr>
              <a:t>High-</a:t>
            </a:r>
            <a:r>
              <a:rPr spc="-10" dirty="0">
                <a:solidFill>
                  <a:srgbClr val="0E2A4B"/>
                </a:solidFill>
              </a:rPr>
              <a:t>Impact </a:t>
            </a:r>
            <a:r>
              <a:rPr spc="75" dirty="0">
                <a:solidFill>
                  <a:srgbClr val="112A4D"/>
                </a:solidFill>
              </a:rPr>
              <a:t>“Quick</a:t>
            </a:r>
            <a:r>
              <a:rPr spc="35" dirty="0">
                <a:solidFill>
                  <a:srgbClr val="112A4D"/>
                </a:solidFill>
              </a:rPr>
              <a:t> </a:t>
            </a:r>
            <a:r>
              <a:rPr spc="90" dirty="0">
                <a:solidFill>
                  <a:srgbClr val="082A4D"/>
                </a:solidFill>
              </a:rPr>
              <a:t>Win”</a:t>
            </a:r>
          </a:p>
          <a:p>
            <a:pPr marL="68580">
              <a:lnSpc>
                <a:spcPct val="100000"/>
              </a:lnSpc>
              <a:spcBef>
                <a:spcPts val="1120"/>
              </a:spcBef>
            </a:pPr>
            <a:r>
              <a:rPr sz="2950" dirty="0">
                <a:solidFill>
                  <a:srgbClr val="000000"/>
                </a:solidFill>
              </a:rPr>
              <a:t>Rest</a:t>
            </a:r>
            <a:r>
              <a:rPr sz="2950" spc="21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Timer</a:t>
            </a:r>
            <a:r>
              <a:rPr sz="2950" spc="28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selected</a:t>
            </a:r>
            <a:r>
              <a:rPr sz="2950" spc="21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for</a:t>
            </a:r>
            <a:r>
              <a:rPr sz="2950" spc="19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max</a:t>
            </a:r>
            <a:r>
              <a:rPr sz="2950" spc="26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impact</a:t>
            </a:r>
            <a:r>
              <a:rPr sz="2950" spc="315" dirty="0">
                <a:solidFill>
                  <a:srgbClr val="000000"/>
                </a:solidFill>
              </a:rPr>
              <a:t> </a:t>
            </a:r>
            <a:r>
              <a:rPr sz="2950" spc="60" dirty="0">
                <a:solidFill>
                  <a:srgbClr val="000000"/>
                </a:solidFill>
              </a:rPr>
              <a:t>with</a:t>
            </a:r>
            <a:r>
              <a:rPr sz="2950" spc="18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min</a:t>
            </a:r>
            <a:r>
              <a:rPr sz="2950" spc="130" dirty="0">
                <a:solidFill>
                  <a:srgbClr val="000000"/>
                </a:solidFill>
              </a:rPr>
              <a:t> </a:t>
            </a:r>
            <a:r>
              <a:rPr sz="2950" spc="40" dirty="0">
                <a:solidFill>
                  <a:srgbClr val="000000"/>
                </a:solidFill>
              </a:rPr>
              <a:t>Effort.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1242853" y="3027891"/>
            <a:ext cx="43688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60" dirty="0">
                <a:solidFill>
                  <a:srgbClr val="131313"/>
                </a:solidFill>
                <a:latin typeface="Arial MT"/>
                <a:cs typeface="Arial MT"/>
              </a:rPr>
              <a:t>3.0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243" y="3862211"/>
            <a:ext cx="450850" cy="12496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360" dirty="0">
                <a:solidFill>
                  <a:srgbClr val="131313"/>
                </a:solidFill>
                <a:latin typeface="Consolas"/>
                <a:cs typeface="Consolas"/>
              </a:rPr>
              <a:t>2.5</a:t>
            </a:r>
            <a:endParaRPr sz="2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600">
              <a:latin typeface="Consolas"/>
              <a:cs typeface="Consolas"/>
            </a:endParaRPr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z="2500" spc="-70" dirty="0">
                <a:solidFill>
                  <a:srgbClr val="0F0F0F"/>
                </a:solidFill>
                <a:latin typeface="Arial MT"/>
                <a:cs typeface="Arial MT"/>
              </a:rPr>
              <a:t>2.0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868" y="6351411"/>
            <a:ext cx="461645" cy="1271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35"/>
              </a:spcBef>
            </a:pPr>
            <a:r>
              <a:rPr sz="2600" spc="-155" dirty="0">
                <a:solidFill>
                  <a:srgbClr val="161616"/>
                </a:solidFill>
                <a:latin typeface="Comic Sans MS"/>
                <a:cs typeface="Comic Sans MS"/>
              </a:rPr>
              <a:t>1.0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229"/>
              </a:spcBef>
            </a:pPr>
            <a:r>
              <a:rPr sz="2850" spc="-615" dirty="0">
                <a:solidFill>
                  <a:srgbClr val="0C0C0C"/>
                </a:solidFill>
                <a:latin typeface="Courier New"/>
                <a:cs typeface="Courier New"/>
              </a:rPr>
              <a:t>0.5</a:t>
            </a:r>
            <a:endParaRPr sz="28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4840" y="8336491"/>
            <a:ext cx="4591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520" dirty="0">
                <a:solidFill>
                  <a:srgbClr val="131313"/>
                </a:solidFill>
                <a:latin typeface="Courier New"/>
                <a:cs typeface="Courier New"/>
              </a:rPr>
              <a:t>0.5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4041" y="8345310"/>
            <a:ext cx="3898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170" dirty="0">
                <a:solidFill>
                  <a:srgbClr val="161616"/>
                </a:solidFill>
                <a:latin typeface="Comic Sans MS"/>
                <a:cs typeface="Comic Sans MS"/>
              </a:rPr>
              <a:t>1.0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5478" y="3484386"/>
            <a:ext cx="291338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5" dirty="0">
                <a:latin typeface="Arial MT"/>
                <a:cs typeface="Arial MT"/>
              </a:rPr>
              <a:t>Winner: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RICE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Score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4,646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0946" y="8336491"/>
            <a:ext cx="39878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305" dirty="0">
                <a:solidFill>
                  <a:srgbClr val="131313"/>
                </a:solidFill>
                <a:latin typeface="Arial MT"/>
                <a:cs typeface="Arial MT"/>
              </a:rPr>
              <a:t>1.5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6590" y="8269346"/>
            <a:ext cx="3179445" cy="9944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735"/>
              </a:spcBef>
              <a:tabLst>
                <a:tab pos="2658745" algn="l"/>
              </a:tabLst>
            </a:pPr>
            <a:r>
              <a:rPr sz="2600" spc="-25" dirty="0">
                <a:solidFill>
                  <a:srgbClr val="0F0F0F"/>
                </a:solidFill>
                <a:latin typeface="Arial MT"/>
                <a:cs typeface="Arial MT"/>
              </a:rPr>
              <a:t>2.0</a:t>
            </a:r>
            <a:r>
              <a:rPr sz="2600" dirty="0">
                <a:solidFill>
                  <a:srgbClr val="0F0F0F"/>
                </a:solidFill>
                <a:latin typeface="Arial MT"/>
                <a:cs typeface="Arial MT"/>
              </a:rPr>
              <a:t>	</a:t>
            </a:r>
            <a:r>
              <a:rPr sz="2600" spc="-25" dirty="0">
                <a:solidFill>
                  <a:srgbClr val="161616"/>
                </a:solidFill>
                <a:latin typeface="Arial MT"/>
                <a:cs typeface="Arial MT"/>
              </a:rPr>
              <a:t>2.5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700" spc="-60" dirty="0">
                <a:solidFill>
                  <a:srgbClr val="0A0A0A"/>
                </a:solidFill>
                <a:latin typeface="Arial MT"/>
                <a:cs typeface="Arial MT"/>
              </a:rPr>
              <a:t>Effort</a:t>
            </a:r>
            <a:r>
              <a:rPr sz="2700" spc="-7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700" spc="-120" dirty="0">
                <a:solidFill>
                  <a:srgbClr val="111111"/>
                </a:solidFill>
                <a:latin typeface="Arial MT"/>
                <a:cs typeface="Arial MT"/>
              </a:rPr>
              <a:t>(person-</a:t>
            </a:r>
            <a:r>
              <a:rPr sz="2700" spc="-110" dirty="0">
                <a:solidFill>
                  <a:srgbClr val="111111"/>
                </a:solidFill>
                <a:latin typeface="Arial MT"/>
                <a:cs typeface="Arial MT"/>
              </a:rPr>
              <a:t>months)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39453" y="8336491"/>
            <a:ext cx="43688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60" dirty="0">
                <a:solidFill>
                  <a:srgbClr val="161616"/>
                </a:solidFill>
                <a:latin typeface="Arial MT"/>
                <a:cs typeface="Arial MT"/>
              </a:rPr>
              <a:t>3.0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76631" y="7614708"/>
            <a:ext cx="154051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95" dirty="0">
                <a:latin typeface="Arial MT"/>
                <a:cs typeface="Arial MT"/>
              </a:rPr>
              <a:t>Adv.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spc="-114" dirty="0">
                <a:latin typeface="Arial MT"/>
                <a:cs typeface="Arial MT"/>
              </a:rPr>
              <a:t>Nutrition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20660" y="8336491"/>
            <a:ext cx="43688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60" dirty="0">
                <a:solidFill>
                  <a:srgbClr val="131313"/>
                </a:solidFill>
                <a:latin typeface="Arial MT"/>
                <a:cs typeface="Arial MT"/>
              </a:rPr>
              <a:t>3.5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96741" y="8354130"/>
            <a:ext cx="43942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355" dirty="0">
                <a:solidFill>
                  <a:srgbClr val="161616"/>
                </a:solidFill>
                <a:latin typeface="Consolas"/>
                <a:cs typeface="Consolas"/>
              </a:rPr>
              <a:t>4.0</a:t>
            </a:r>
            <a:endParaRPr sz="25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9900" y="5892800"/>
            <a:ext cx="914400" cy="939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0900" y="5892800"/>
            <a:ext cx="914400" cy="939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52700" y="4559300"/>
            <a:ext cx="939800" cy="1079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75800" y="4559300"/>
            <a:ext cx="939800" cy="1092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92900" y="3009900"/>
            <a:ext cx="1168400" cy="1231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81500" y="787400"/>
            <a:ext cx="622300" cy="5207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299200" y="1879600"/>
            <a:ext cx="4876800" cy="1003300"/>
          </a:xfrm>
          <a:prstGeom prst="rect">
            <a:avLst/>
          </a:prstGeom>
          <a:solidFill>
            <a:srgbClr val="3B4959"/>
          </a:solidFill>
        </p:spPr>
        <p:txBody>
          <a:bodyPr vert="horz" wrap="square" lIns="0" tIns="228600" rIns="0" bIns="0" rtlCol="0">
            <a:spAutoFit/>
          </a:bodyPr>
          <a:lstStyle/>
          <a:p>
            <a:pPr marR="25400" algn="ctr">
              <a:lnSpc>
                <a:spcPct val="100000"/>
              </a:lnSpc>
              <a:spcBef>
                <a:spcPts val="1800"/>
              </a:spcBef>
            </a:pPr>
            <a:r>
              <a:rPr sz="3100" spc="-100" dirty="0">
                <a:solidFill>
                  <a:srgbClr val="FFFFFF"/>
                </a:solidFill>
                <a:latin typeface="Comic Sans MS"/>
                <a:cs typeface="Comic Sans MS"/>
              </a:rPr>
              <a:t>New</a:t>
            </a:r>
            <a:r>
              <a:rPr sz="3100" spc="-1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3100" spc="-105" dirty="0">
                <a:solidFill>
                  <a:srgbClr val="FFFFFF"/>
                </a:solidFill>
                <a:latin typeface="Comic Sans MS"/>
                <a:cs typeface="Comic Sans MS"/>
              </a:rPr>
              <a:t>Users</a:t>
            </a:r>
            <a:r>
              <a:rPr sz="3100" spc="-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3100" spc="-254" dirty="0">
                <a:solidFill>
                  <a:srgbClr val="FFFFFF"/>
                </a:solidFill>
                <a:latin typeface="Comic Sans MS"/>
                <a:cs typeface="Comic Sans MS"/>
              </a:rPr>
              <a:t>at</a:t>
            </a:r>
            <a:r>
              <a:rPr sz="3100" spc="-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omic Sans MS"/>
                <a:cs typeface="Comic Sans MS"/>
              </a:rPr>
              <a:t>Launch</a:t>
            </a:r>
            <a:endParaRPr sz="31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9200" y="6959600"/>
            <a:ext cx="4876800" cy="952500"/>
          </a:xfrm>
          <a:prstGeom prst="rect">
            <a:avLst/>
          </a:prstGeom>
          <a:solidFill>
            <a:srgbClr val="344454"/>
          </a:solidFill>
        </p:spPr>
        <p:txBody>
          <a:bodyPr vert="horz" wrap="square" lIns="0" tIns="203200" rIns="0" bIns="0" rtlCol="0">
            <a:spAutoFit/>
          </a:bodyPr>
          <a:lstStyle/>
          <a:p>
            <a:pPr marL="511809">
              <a:lnSpc>
                <a:spcPct val="100000"/>
              </a:lnSpc>
              <a:spcBef>
                <a:spcPts val="1600"/>
              </a:spcBef>
            </a:pPr>
            <a:r>
              <a:rPr sz="3100" spc="-80" dirty="0">
                <a:solidFill>
                  <a:srgbClr val="FFFFFF"/>
                </a:solidFill>
                <a:latin typeface="Arial MT"/>
                <a:cs typeface="Arial MT"/>
              </a:rPr>
              <a:t>Goal:</a:t>
            </a:r>
            <a:r>
              <a:rPr sz="31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-60" dirty="0">
                <a:solidFill>
                  <a:srgbClr val="FFFFFF"/>
                </a:solidFill>
                <a:latin typeface="Arial MT"/>
                <a:cs typeface="Arial MT"/>
              </a:rPr>
              <a:t>Day-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r>
              <a:rPr sz="3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Retention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83216" y="541866"/>
            <a:ext cx="3385185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150" dirty="0">
                <a:solidFill>
                  <a:srgbClr val="0A2342"/>
                </a:solidFill>
              </a:rPr>
              <a:t>Milestone</a:t>
            </a:r>
            <a:endParaRPr sz="5800"/>
          </a:p>
        </p:txBody>
      </p:sp>
      <p:sp>
        <p:nvSpPr>
          <p:cNvPr id="11" name="object 11"/>
          <p:cNvSpPr txBox="1"/>
          <p:nvPr/>
        </p:nvSpPr>
        <p:spPr>
          <a:xfrm>
            <a:off x="5208088" y="541866"/>
            <a:ext cx="10756900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7209" algn="l"/>
              </a:tabLst>
            </a:pPr>
            <a:r>
              <a:rPr sz="5800" spc="114" dirty="0">
                <a:solidFill>
                  <a:srgbClr val="0A2342"/>
                </a:solidFill>
                <a:latin typeface="Arial MT"/>
                <a:cs typeface="Arial MT"/>
              </a:rPr>
              <a:t>A/B</a:t>
            </a:r>
            <a:r>
              <a:rPr sz="5800" spc="-295" dirty="0">
                <a:solidFill>
                  <a:srgbClr val="0A2342"/>
                </a:solidFill>
                <a:latin typeface="Arial MT"/>
                <a:cs typeface="Arial MT"/>
              </a:rPr>
              <a:t> </a:t>
            </a:r>
            <a:r>
              <a:rPr sz="5800" dirty="0">
                <a:solidFill>
                  <a:srgbClr val="08213F"/>
                </a:solidFill>
                <a:latin typeface="Arial MT"/>
                <a:cs typeface="Arial MT"/>
              </a:rPr>
              <a:t>Test</a:t>
            </a:r>
            <a:r>
              <a:rPr sz="5800" spc="-25" dirty="0">
                <a:solidFill>
                  <a:srgbClr val="08213F"/>
                </a:solidFill>
                <a:latin typeface="Arial MT"/>
                <a:cs typeface="Arial MT"/>
              </a:rPr>
              <a:t> </a:t>
            </a:r>
            <a:r>
              <a:rPr sz="5800" spc="85" dirty="0">
                <a:solidFill>
                  <a:srgbClr val="0C2446"/>
                </a:solidFill>
                <a:latin typeface="Arial MT"/>
                <a:cs typeface="Arial MT"/>
              </a:rPr>
              <a:t>Design</a:t>
            </a:r>
            <a:r>
              <a:rPr sz="5800" spc="-180" dirty="0">
                <a:solidFill>
                  <a:srgbClr val="0C2446"/>
                </a:solidFill>
                <a:latin typeface="Arial MT"/>
                <a:cs typeface="Arial MT"/>
              </a:rPr>
              <a:t> </a:t>
            </a:r>
            <a:r>
              <a:rPr sz="5800" spc="175" dirty="0">
                <a:solidFill>
                  <a:srgbClr val="0C2646"/>
                </a:solidFill>
                <a:latin typeface="Arial MT"/>
                <a:cs typeface="Arial MT"/>
              </a:rPr>
              <a:t>for</a:t>
            </a:r>
            <a:r>
              <a:rPr sz="5800" dirty="0">
                <a:solidFill>
                  <a:srgbClr val="0C2646"/>
                </a:solidFill>
                <a:latin typeface="Arial MT"/>
                <a:cs typeface="Arial MT"/>
              </a:rPr>
              <a:t>	</a:t>
            </a:r>
            <a:r>
              <a:rPr sz="5800" dirty="0">
                <a:solidFill>
                  <a:srgbClr val="051C3B"/>
                </a:solidFill>
                <a:latin typeface="Arial MT"/>
                <a:cs typeface="Arial MT"/>
              </a:rPr>
              <a:t>Rest</a:t>
            </a:r>
            <a:r>
              <a:rPr sz="5800" spc="-85" dirty="0">
                <a:solidFill>
                  <a:srgbClr val="051C3B"/>
                </a:solidFill>
                <a:latin typeface="Arial MT"/>
                <a:cs typeface="Arial MT"/>
              </a:rPr>
              <a:t> </a:t>
            </a:r>
            <a:r>
              <a:rPr sz="5800" spc="90" dirty="0">
                <a:solidFill>
                  <a:srgbClr val="0C2342"/>
                </a:solidFill>
                <a:latin typeface="Arial MT"/>
                <a:cs typeface="Arial MT"/>
              </a:rPr>
              <a:t>Timer’</a:t>
            </a:r>
            <a:endParaRPr sz="5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03370" y="4583994"/>
            <a:ext cx="3798570" cy="944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10" dirty="0">
                <a:solidFill>
                  <a:srgbClr val="001123"/>
                </a:solidFill>
                <a:latin typeface="Arial MT"/>
                <a:cs typeface="Arial MT"/>
              </a:rPr>
              <a:t>Control</a:t>
            </a:r>
            <a:r>
              <a:rPr sz="3050" spc="-204" dirty="0">
                <a:solidFill>
                  <a:srgbClr val="001123"/>
                </a:solidFill>
                <a:latin typeface="Arial MT"/>
                <a:cs typeface="Arial MT"/>
              </a:rPr>
              <a:t> </a:t>
            </a:r>
            <a:r>
              <a:rPr sz="3050" spc="-75" dirty="0">
                <a:solidFill>
                  <a:srgbClr val="071A33"/>
                </a:solidFill>
                <a:latin typeface="Arial MT"/>
                <a:cs typeface="Arial MT"/>
              </a:rPr>
              <a:t>Group</a:t>
            </a:r>
            <a:r>
              <a:rPr sz="3050" spc="-80" dirty="0">
                <a:solidFill>
                  <a:srgbClr val="071A33"/>
                </a:solidFill>
                <a:latin typeface="Arial MT"/>
                <a:cs typeface="Arial MT"/>
              </a:rPr>
              <a:t> </a:t>
            </a:r>
            <a:r>
              <a:rPr sz="3050" spc="-190" dirty="0">
                <a:solidFill>
                  <a:srgbClr val="01152F"/>
                </a:solidFill>
                <a:latin typeface="Arial MT"/>
                <a:cs typeface="Arial MT"/>
              </a:rPr>
              <a:t>A</a:t>
            </a:r>
            <a:r>
              <a:rPr sz="3050" spc="-95" dirty="0">
                <a:solidFill>
                  <a:srgbClr val="01152F"/>
                </a:solidFill>
                <a:latin typeface="Arial MT"/>
                <a:cs typeface="Arial MT"/>
              </a:rPr>
              <a:t> </a:t>
            </a:r>
            <a:r>
              <a:rPr sz="3050" spc="-65" dirty="0">
                <a:solidFill>
                  <a:srgbClr val="0A1F38"/>
                </a:solidFill>
                <a:latin typeface="Arial MT"/>
                <a:cs typeface="Arial MT"/>
              </a:rPr>
              <a:t>(50%)</a:t>
            </a:r>
            <a:endParaRPr sz="305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z="2900" spc="-70" dirty="0">
                <a:solidFill>
                  <a:srgbClr val="111111"/>
                </a:solidFill>
                <a:latin typeface="Arial MT"/>
                <a:cs typeface="Arial MT"/>
              </a:rPr>
              <a:t>Existing</a:t>
            </a:r>
            <a:r>
              <a:rPr sz="2900" spc="-1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900" spc="-85" dirty="0">
                <a:solidFill>
                  <a:srgbClr val="0E0E0E"/>
                </a:solidFill>
                <a:latin typeface="Arial MT"/>
                <a:cs typeface="Arial MT"/>
              </a:rPr>
              <a:t>Workout </a:t>
            </a:r>
            <a:r>
              <a:rPr sz="2900" spc="-20" dirty="0">
                <a:solidFill>
                  <a:srgbClr val="0F0F0F"/>
                </a:solidFill>
                <a:latin typeface="Arial MT"/>
                <a:cs typeface="Arial MT"/>
              </a:rPr>
              <a:t>Flow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12130" y="4585405"/>
            <a:ext cx="428053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4445">
              <a:lnSpc>
                <a:spcPct val="109100"/>
              </a:lnSpc>
              <a:spcBef>
                <a:spcPts val="95"/>
              </a:spcBef>
            </a:pPr>
            <a:r>
              <a:rPr sz="2750" spc="105" dirty="0">
                <a:solidFill>
                  <a:srgbClr val="0A1F3A"/>
                </a:solidFill>
                <a:latin typeface="Arial MT"/>
                <a:cs typeface="Arial MT"/>
              </a:rPr>
              <a:t>Treatment</a:t>
            </a:r>
            <a:r>
              <a:rPr sz="2750" spc="120" dirty="0">
                <a:solidFill>
                  <a:srgbClr val="0A1F3A"/>
                </a:solidFill>
                <a:latin typeface="Arial MT"/>
                <a:cs typeface="Arial MT"/>
              </a:rPr>
              <a:t> </a:t>
            </a:r>
            <a:r>
              <a:rPr sz="2750" spc="85" dirty="0">
                <a:solidFill>
                  <a:srgbClr val="051831"/>
                </a:solidFill>
                <a:latin typeface="Arial MT"/>
                <a:cs typeface="Arial MT"/>
              </a:rPr>
              <a:t>Group</a:t>
            </a:r>
            <a:r>
              <a:rPr sz="2750" spc="-30" dirty="0">
                <a:solidFill>
                  <a:srgbClr val="051831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071C36"/>
                </a:solidFill>
                <a:latin typeface="Arial MT"/>
                <a:cs typeface="Arial MT"/>
              </a:rPr>
              <a:t>B</a:t>
            </a:r>
            <a:r>
              <a:rPr sz="2750" spc="-45" dirty="0">
                <a:solidFill>
                  <a:srgbClr val="071C36"/>
                </a:solidFill>
                <a:latin typeface="Arial MT"/>
                <a:cs typeface="Arial MT"/>
              </a:rPr>
              <a:t> </a:t>
            </a:r>
            <a:r>
              <a:rPr sz="2750" spc="50" dirty="0">
                <a:solidFill>
                  <a:srgbClr val="081C34"/>
                </a:solidFill>
                <a:latin typeface="Arial MT"/>
                <a:cs typeface="Arial MT"/>
              </a:rPr>
              <a:t>(50%) </a:t>
            </a:r>
            <a:r>
              <a:rPr sz="2750" dirty="0">
                <a:solidFill>
                  <a:srgbClr val="0F0F0F"/>
                </a:solidFill>
                <a:latin typeface="Arial MT"/>
                <a:cs typeface="Arial MT"/>
              </a:rPr>
              <a:t>Workout</a:t>
            </a:r>
            <a:r>
              <a:rPr sz="2750" spc="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0F0F0F"/>
                </a:solidFill>
                <a:latin typeface="Arial MT"/>
                <a:cs typeface="Arial MT"/>
              </a:rPr>
              <a:t>Flow</a:t>
            </a:r>
            <a:r>
              <a:rPr sz="2750" spc="-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0E1D36"/>
                </a:solidFill>
                <a:latin typeface="Arial MT"/>
                <a:cs typeface="Arial MT"/>
              </a:rPr>
              <a:t>+</a:t>
            </a:r>
            <a:r>
              <a:rPr sz="2750" spc="-165" dirty="0">
                <a:solidFill>
                  <a:srgbClr val="0E1D36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0F0F0F"/>
                </a:solidFill>
                <a:latin typeface="Arial MT"/>
                <a:cs typeface="Arial MT"/>
              </a:rPr>
              <a:t>Rest</a:t>
            </a:r>
            <a:r>
              <a:rPr sz="2750" spc="-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131313"/>
                </a:solidFill>
                <a:latin typeface="Arial MT"/>
                <a:cs typeface="Arial MT"/>
              </a:rPr>
              <a:t>Timer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0137" y="8170333"/>
            <a:ext cx="5466080" cy="953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2900" spc="114" dirty="0">
                <a:solidFill>
                  <a:srgbClr val="112336"/>
                </a:solidFill>
                <a:latin typeface="Arial MT"/>
                <a:cs typeface="Arial MT"/>
              </a:rPr>
              <a:t>Hypothesis:</a:t>
            </a:r>
            <a:r>
              <a:rPr sz="2900" spc="125" dirty="0">
                <a:solidFill>
                  <a:srgbClr val="11233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181818"/>
                </a:solidFill>
                <a:latin typeface="Arial MT"/>
                <a:cs typeface="Arial MT"/>
              </a:rPr>
              <a:t>Increase</a:t>
            </a:r>
            <a:r>
              <a:rPr sz="2900" spc="20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181818"/>
                </a:solidFill>
                <a:latin typeface="Arial MT"/>
                <a:cs typeface="Arial MT"/>
              </a:rPr>
              <a:t>Retention</a:t>
            </a:r>
            <a:endParaRPr sz="2900" dirty="0">
              <a:latin typeface="Arial MT"/>
              <a:cs typeface="Arial MT"/>
            </a:endParaRPr>
          </a:p>
          <a:p>
            <a:pPr marR="2540" algn="ctr">
              <a:lnSpc>
                <a:spcPct val="100000"/>
              </a:lnSpc>
              <a:spcBef>
                <a:spcPts val="20"/>
              </a:spcBef>
              <a:tabLst>
                <a:tab pos="1724025" algn="l"/>
                <a:tab pos="2176780" algn="l"/>
              </a:tabLst>
            </a:pPr>
            <a:r>
              <a:rPr sz="2850" spc="85" dirty="0">
                <a:solidFill>
                  <a:srgbClr val="161616"/>
                </a:solidFill>
                <a:latin typeface="Arial MT"/>
                <a:cs typeface="Arial MT"/>
              </a:rPr>
              <a:t>from</a:t>
            </a:r>
            <a:r>
              <a:rPr sz="2850" spc="25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50" spc="-20" dirty="0">
                <a:solidFill>
                  <a:srgbClr val="0C0C0C"/>
                </a:solidFill>
                <a:latin typeface="Arial MT"/>
                <a:cs typeface="Arial MT"/>
              </a:rPr>
              <a:t>22</a:t>
            </a:r>
            <a:r>
              <a:rPr lang="en-IN" sz="2850" dirty="0">
                <a:solidFill>
                  <a:srgbClr val="111111"/>
                </a:solidFill>
                <a:latin typeface="Arial MT"/>
                <a:cs typeface="Arial MT"/>
              </a:rPr>
              <a:t> % </a:t>
            </a:r>
            <a:r>
              <a:rPr sz="2850" dirty="0">
                <a:solidFill>
                  <a:srgbClr val="0C0C0C"/>
                </a:solidFill>
                <a:latin typeface="Arial MT"/>
                <a:cs typeface="Arial MT"/>
              </a:rPr>
              <a:t>	</a:t>
            </a:r>
            <a:r>
              <a:rPr sz="2850" spc="-25" dirty="0">
                <a:solidFill>
                  <a:srgbClr val="0E0E0E"/>
                </a:solidFill>
                <a:latin typeface="Arial MT"/>
                <a:cs typeface="Arial MT"/>
              </a:rPr>
              <a:t>to</a:t>
            </a:r>
            <a:r>
              <a:rPr sz="2850" dirty="0">
                <a:solidFill>
                  <a:srgbClr val="0E0E0E"/>
                </a:solidFill>
                <a:latin typeface="Arial MT"/>
                <a:cs typeface="Arial MT"/>
              </a:rPr>
              <a:t>	</a:t>
            </a:r>
            <a:r>
              <a:rPr sz="2850" dirty="0">
                <a:solidFill>
                  <a:srgbClr val="111111"/>
                </a:solidFill>
                <a:latin typeface="Arial MT"/>
                <a:cs typeface="Arial MT"/>
              </a:rPr>
              <a:t>27%</a:t>
            </a:r>
            <a:r>
              <a:rPr sz="285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lang="en-IN" sz="3200" dirty="0">
                <a:solidFill>
                  <a:srgbClr val="00B050"/>
                </a:solidFill>
              </a:rPr>
              <a:t>(+5pp)</a:t>
            </a:r>
            <a:endParaRPr sz="2850" dirty="0">
              <a:solidFill>
                <a:srgbClr val="00B05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970" y="599369"/>
            <a:ext cx="8433435" cy="1737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">
              <a:lnSpc>
                <a:spcPts val="6665"/>
              </a:lnSpc>
              <a:spcBef>
                <a:spcPts val="130"/>
              </a:spcBef>
            </a:pPr>
            <a:r>
              <a:rPr sz="6150" dirty="0">
                <a:solidFill>
                  <a:srgbClr val="082846"/>
                </a:solidFill>
                <a:latin typeface="Arial MT"/>
                <a:cs typeface="Arial MT"/>
              </a:rPr>
              <a:t>Statistical</a:t>
            </a:r>
            <a:r>
              <a:rPr sz="6150" spc="-360" dirty="0">
                <a:solidFill>
                  <a:srgbClr val="082846"/>
                </a:solidFill>
                <a:latin typeface="Arial MT"/>
                <a:cs typeface="Arial MT"/>
              </a:rPr>
              <a:t> </a:t>
            </a:r>
            <a:r>
              <a:rPr sz="6150" spc="-130" dirty="0">
                <a:solidFill>
                  <a:srgbClr val="072342"/>
                </a:solidFill>
                <a:latin typeface="Arial MT"/>
                <a:cs typeface="Arial MT"/>
              </a:rPr>
              <a:t>Parameters</a:t>
            </a:r>
            <a:r>
              <a:rPr sz="6150" spc="15" dirty="0">
                <a:solidFill>
                  <a:srgbClr val="072342"/>
                </a:solidFill>
                <a:latin typeface="Arial MT"/>
                <a:cs typeface="Arial MT"/>
              </a:rPr>
              <a:t> </a:t>
            </a:r>
            <a:r>
              <a:rPr sz="6150" spc="-380" dirty="0">
                <a:solidFill>
                  <a:srgbClr val="071F3D"/>
                </a:solidFill>
                <a:latin typeface="Arial MT"/>
                <a:cs typeface="Arial MT"/>
              </a:rPr>
              <a:t>&amp;</a:t>
            </a:r>
            <a:endParaRPr sz="6150" dirty="0">
              <a:latin typeface="Arial MT"/>
              <a:cs typeface="Arial MT"/>
            </a:endParaRPr>
          </a:p>
          <a:p>
            <a:pPr marL="12700">
              <a:lnSpc>
                <a:spcPts val="6784"/>
              </a:lnSpc>
            </a:pPr>
            <a:r>
              <a:rPr sz="6250" spc="-45" dirty="0">
                <a:solidFill>
                  <a:srgbClr val="082341"/>
                </a:solidFill>
                <a:latin typeface="Arial MT"/>
                <a:cs typeface="Arial MT"/>
              </a:rPr>
              <a:t>Implementation</a:t>
            </a:r>
            <a:r>
              <a:rPr sz="6250" spc="-785" dirty="0">
                <a:solidFill>
                  <a:srgbClr val="082341"/>
                </a:solidFill>
                <a:latin typeface="Arial MT"/>
                <a:cs typeface="Arial MT"/>
              </a:rPr>
              <a:t> </a:t>
            </a:r>
            <a:r>
              <a:rPr sz="6250" spc="-60" dirty="0">
                <a:solidFill>
                  <a:srgbClr val="03213D"/>
                </a:solidFill>
                <a:latin typeface="Arial MT"/>
                <a:cs typeface="Arial MT"/>
              </a:rPr>
              <a:t>Timeline</a:t>
            </a:r>
            <a:endParaRPr sz="62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1975" y="3366205"/>
            <a:ext cx="23082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051C33"/>
                </a:solidFill>
                <a:latin typeface="Arial MT"/>
                <a:cs typeface="Arial MT"/>
              </a:rPr>
              <a:t>Sample</a:t>
            </a:r>
            <a:r>
              <a:rPr sz="3200" spc="-155" dirty="0">
                <a:solidFill>
                  <a:srgbClr val="051C33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8213D"/>
                </a:solidFill>
                <a:latin typeface="Arial MT"/>
                <a:cs typeface="Arial MT"/>
              </a:rPr>
              <a:t>Size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7517" y="3357386"/>
            <a:ext cx="118872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10" dirty="0">
                <a:solidFill>
                  <a:srgbClr val="0A243D"/>
                </a:solidFill>
                <a:latin typeface="Arial MT"/>
                <a:cs typeface="Arial MT"/>
              </a:rPr>
              <a:t>Power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010" y="4368447"/>
            <a:ext cx="2915920" cy="285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50" spc="-25" dirty="0">
                <a:solidFill>
                  <a:srgbClr val="0A2442"/>
                </a:solidFill>
                <a:latin typeface="Arial MT"/>
                <a:cs typeface="Arial MT"/>
              </a:rPr>
              <a:t>1,</a:t>
            </a:r>
            <a:endParaRPr sz="9650">
              <a:latin typeface="Arial MT"/>
              <a:cs typeface="Arial MT"/>
            </a:endParaRPr>
          </a:p>
          <a:p>
            <a:pPr marL="620395" marR="5080" indent="-196850">
              <a:lnSpc>
                <a:spcPts val="3100"/>
              </a:lnSpc>
              <a:spcBef>
                <a:spcPts val="4590"/>
              </a:spcBef>
            </a:pPr>
            <a:r>
              <a:rPr sz="2700" dirty="0">
                <a:latin typeface="Arial MT"/>
                <a:cs typeface="Arial MT"/>
              </a:rPr>
              <a:t>Users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per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group </a:t>
            </a:r>
            <a:r>
              <a:rPr sz="2700" dirty="0">
                <a:latin typeface="Arial MT"/>
                <a:cs typeface="Arial MT"/>
              </a:rPr>
              <a:t>(Total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-</a:t>
            </a:r>
            <a:r>
              <a:rPr sz="2700" spc="-10" dirty="0">
                <a:latin typeface="Arial MT"/>
                <a:cs typeface="Arial MT"/>
              </a:rPr>
              <a:t>2,152)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5804" y="4451350"/>
            <a:ext cx="4997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10" dirty="0">
                <a:solidFill>
                  <a:srgbClr val="0ABA8E"/>
                </a:solidFill>
                <a:latin typeface="Arial MT"/>
                <a:cs typeface="Arial MT"/>
              </a:rPr>
              <a:t>O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5912" y="4368447"/>
            <a:ext cx="2477770" cy="149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50" dirty="0">
                <a:solidFill>
                  <a:srgbClr val="0ABA8E"/>
                </a:solidFill>
                <a:latin typeface="Arial MT"/>
                <a:cs typeface="Arial MT"/>
              </a:rPr>
              <a:t>80</a:t>
            </a:r>
            <a:r>
              <a:rPr sz="9650" spc="730" dirty="0">
                <a:solidFill>
                  <a:srgbClr val="0ABA8E"/>
                </a:solidFill>
                <a:latin typeface="Arial MT"/>
                <a:cs typeface="Arial MT"/>
              </a:rPr>
              <a:t> </a:t>
            </a:r>
            <a:r>
              <a:rPr sz="9650" spc="-140" dirty="0">
                <a:solidFill>
                  <a:srgbClr val="0ABA8E"/>
                </a:solidFill>
                <a:latin typeface="Arial MT"/>
                <a:cs typeface="Arial MT"/>
              </a:rPr>
              <a:t>6</a:t>
            </a:r>
            <a:endParaRPr sz="9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0041" y="6393391"/>
            <a:ext cx="2459990" cy="8318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00660">
              <a:lnSpc>
                <a:spcPts val="3100"/>
              </a:lnSpc>
              <a:spcBef>
                <a:spcPts val="325"/>
              </a:spcBef>
            </a:pPr>
            <a:r>
              <a:rPr sz="2700" dirty="0">
                <a:latin typeface="Arial MT"/>
                <a:cs typeface="Arial MT"/>
              </a:rPr>
              <a:t>Probability</a:t>
            </a:r>
            <a:r>
              <a:rPr sz="2700" spc="32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of </a:t>
            </a:r>
            <a:r>
              <a:rPr sz="2700" dirty="0">
                <a:latin typeface="Arial MT"/>
                <a:cs typeface="Arial MT"/>
              </a:rPr>
              <a:t>detecting</a:t>
            </a:r>
            <a:r>
              <a:rPr sz="2700" spc="50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effect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31791" y="3359855"/>
            <a:ext cx="217995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45" dirty="0">
                <a:solidFill>
                  <a:srgbClr val="081F3B"/>
                </a:solidFill>
                <a:latin typeface="Arial MT"/>
                <a:cs typeface="Arial MT"/>
              </a:rPr>
              <a:t>Confidence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82549" y="6393391"/>
            <a:ext cx="2693035" cy="8318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86385" marR="5080" indent="-274320">
              <a:lnSpc>
                <a:spcPts val="3100"/>
              </a:lnSpc>
              <a:spcBef>
                <a:spcPts val="325"/>
              </a:spcBef>
              <a:tabLst>
                <a:tab pos="1361440" algn="l"/>
              </a:tabLst>
            </a:pPr>
            <a:r>
              <a:rPr sz="2700" dirty="0">
                <a:latin typeface="Arial MT"/>
                <a:cs typeface="Arial MT"/>
              </a:rPr>
              <a:t>Significance</a:t>
            </a:r>
            <a:r>
              <a:rPr sz="2700" spc="14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level (alpha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515" dirty="0">
                <a:latin typeface="Arial MT"/>
                <a:cs typeface="Arial MT"/>
              </a:rPr>
              <a:t>—</a:t>
            </a:r>
            <a:r>
              <a:rPr sz="2700" spc="24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0.05)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8091" y="8988425"/>
            <a:ext cx="253873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 dirty="0">
                <a:solidFill>
                  <a:srgbClr val="131313"/>
                </a:solidFill>
                <a:latin typeface="Arial MT"/>
                <a:cs typeface="Arial MT"/>
              </a:rPr>
              <a:t>Implementation</a:t>
            </a:r>
            <a:r>
              <a:rPr sz="18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50" spc="-25" dirty="0">
                <a:solidFill>
                  <a:srgbClr val="131313"/>
                </a:solidFill>
                <a:latin typeface="Arial MT"/>
                <a:cs typeface="Arial MT"/>
              </a:rPr>
              <a:t>Timeline</a:t>
            </a:r>
            <a:endParaRPr sz="18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79843" y="3317122"/>
            <a:ext cx="2677795" cy="39154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3200" spc="45" dirty="0">
                <a:solidFill>
                  <a:srgbClr val="0C2641"/>
                </a:solidFill>
                <a:latin typeface="Arial MT"/>
                <a:cs typeface="Arial MT"/>
              </a:rPr>
              <a:t>Duration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ts val="8605"/>
              </a:lnSpc>
              <a:spcBef>
                <a:spcPts val="910"/>
              </a:spcBef>
            </a:pPr>
            <a:r>
              <a:rPr sz="8300" spc="-90" dirty="0">
                <a:solidFill>
                  <a:srgbClr val="08BA90"/>
                </a:solidFill>
                <a:latin typeface="Arial MT"/>
                <a:cs typeface="Arial MT"/>
              </a:rPr>
              <a:t>21-</a:t>
            </a:r>
            <a:r>
              <a:rPr sz="8300" spc="-25" dirty="0">
                <a:solidFill>
                  <a:srgbClr val="08BA90"/>
                </a:solidFill>
                <a:latin typeface="Arial MT"/>
                <a:cs typeface="Arial MT"/>
              </a:rPr>
              <a:t>28</a:t>
            </a:r>
            <a:endParaRPr sz="8300">
              <a:latin typeface="Arial MT"/>
              <a:cs typeface="Arial MT"/>
            </a:endParaRPr>
          </a:p>
          <a:p>
            <a:pPr marR="43180" algn="ctr">
              <a:lnSpc>
                <a:spcPts val="8905"/>
              </a:lnSpc>
            </a:pPr>
            <a:r>
              <a:rPr sz="8550" spc="-459" dirty="0">
                <a:solidFill>
                  <a:srgbClr val="08BC8E"/>
                </a:solidFill>
                <a:latin typeface="Arial MT"/>
                <a:cs typeface="Arial MT"/>
              </a:rPr>
              <a:t>Days</a:t>
            </a:r>
            <a:endParaRPr sz="8550">
              <a:latin typeface="Arial MT"/>
              <a:cs typeface="Arial MT"/>
            </a:endParaRPr>
          </a:p>
          <a:p>
            <a:pPr marL="17780" algn="ctr">
              <a:lnSpc>
                <a:spcPts val="3210"/>
              </a:lnSpc>
              <a:spcBef>
                <a:spcPts val="1490"/>
              </a:spcBef>
            </a:pPr>
            <a:r>
              <a:rPr sz="2850" spc="-245" dirty="0">
                <a:latin typeface="Arial MT"/>
                <a:cs typeface="Arial MT"/>
              </a:rPr>
              <a:t>To</a:t>
            </a:r>
            <a:r>
              <a:rPr sz="2850" spc="-20" dirty="0">
                <a:latin typeface="Arial MT"/>
                <a:cs typeface="Arial MT"/>
              </a:rPr>
              <a:t> </a:t>
            </a:r>
            <a:r>
              <a:rPr sz="2850" spc="-40" dirty="0">
                <a:latin typeface="Arial MT"/>
                <a:cs typeface="Arial MT"/>
              </a:rPr>
              <a:t>account</a:t>
            </a:r>
            <a:r>
              <a:rPr sz="2850" spc="-10" dirty="0">
                <a:latin typeface="Arial MT"/>
                <a:cs typeface="Arial MT"/>
              </a:rPr>
              <a:t> </a:t>
            </a:r>
            <a:r>
              <a:rPr sz="2850" spc="-25" dirty="0">
                <a:latin typeface="Arial MT"/>
                <a:cs typeface="Arial MT"/>
              </a:rPr>
              <a:t>for</a:t>
            </a:r>
            <a:endParaRPr sz="2850">
              <a:latin typeface="Arial MT"/>
              <a:cs typeface="Arial MT"/>
            </a:endParaRPr>
          </a:p>
          <a:p>
            <a:pPr marL="15240" algn="ctr">
              <a:lnSpc>
                <a:spcPts val="3329"/>
              </a:lnSpc>
            </a:pPr>
            <a:r>
              <a:rPr sz="2950" spc="-95" dirty="0">
                <a:latin typeface="Arial MT"/>
                <a:cs typeface="Arial MT"/>
              </a:rPr>
              <a:t>weekly</a:t>
            </a:r>
            <a:r>
              <a:rPr sz="2950" spc="-10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variance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2730500"/>
            <a:ext cx="16052800" cy="6375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737" y="427919"/>
            <a:ext cx="10223500" cy="1780539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30480" marR="5080" indent="-18415">
              <a:lnSpc>
                <a:spcPts val="6400"/>
              </a:lnSpc>
              <a:spcBef>
                <a:spcPts val="1160"/>
              </a:spcBef>
            </a:pPr>
            <a:r>
              <a:rPr sz="6150" dirty="0">
                <a:solidFill>
                  <a:srgbClr val="0A213F"/>
                </a:solidFill>
              </a:rPr>
              <a:t>Post-</a:t>
            </a:r>
            <a:r>
              <a:rPr sz="6150" spc="50" dirty="0">
                <a:solidFill>
                  <a:srgbClr val="0A213F"/>
                </a:solidFill>
              </a:rPr>
              <a:t>Test</a:t>
            </a:r>
            <a:r>
              <a:rPr sz="6150" spc="285" dirty="0">
                <a:solidFill>
                  <a:srgbClr val="0A213F"/>
                </a:solidFill>
              </a:rPr>
              <a:t> </a:t>
            </a:r>
            <a:r>
              <a:rPr sz="6150" spc="80" dirty="0">
                <a:solidFill>
                  <a:srgbClr val="0A2446"/>
                </a:solidFill>
              </a:rPr>
              <a:t>Product</a:t>
            </a:r>
            <a:r>
              <a:rPr sz="6150" spc="100" dirty="0">
                <a:solidFill>
                  <a:srgbClr val="0A2446"/>
                </a:solidFill>
              </a:rPr>
              <a:t> </a:t>
            </a:r>
            <a:r>
              <a:rPr sz="6150" spc="-40" dirty="0">
                <a:solidFill>
                  <a:srgbClr val="081F3D"/>
                </a:solidFill>
              </a:rPr>
              <a:t>Roadmap: </a:t>
            </a:r>
            <a:r>
              <a:rPr sz="6150" spc="210" dirty="0">
                <a:solidFill>
                  <a:srgbClr val="071F38"/>
                </a:solidFill>
              </a:rPr>
              <a:t>6-</a:t>
            </a:r>
            <a:r>
              <a:rPr sz="6150" spc="265" dirty="0">
                <a:solidFill>
                  <a:srgbClr val="071F38"/>
                </a:solidFill>
              </a:rPr>
              <a:t>Month</a:t>
            </a:r>
            <a:r>
              <a:rPr sz="6150" spc="-130" dirty="0">
                <a:solidFill>
                  <a:srgbClr val="071F38"/>
                </a:solidFill>
              </a:rPr>
              <a:t> </a:t>
            </a:r>
            <a:r>
              <a:rPr sz="6150" spc="50" dirty="0">
                <a:solidFill>
                  <a:srgbClr val="0A1F3D"/>
                </a:solidFill>
              </a:rPr>
              <a:t>Outlook</a:t>
            </a:r>
            <a:endParaRPr sz="6150"/>
          </a:p>
        </p:txBody>
      </p:sp>
      <p:sp>
        <p:nvSpPr>
          <p:cNvPr id="4" name="object 4"/>
          <p:cNvSpPr txBox="1"/>
          <p:nvPr/>
        </p:nvSpPr>
        <p:spPr>
          <a:xfrm>
            <a:off x="759433" y="3821288"/>
            <a:ext cx="1410970" cy="7537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4445">
              <a:lnSpc>
                <a:spcPct val="102800"/>
              </a:lnSpc>
              <a:spcBef>
                <a:spcPts val="30"/>
              </a:spcBef>
            </a:pPr>
            <a:r>
              <a:rPr sz="2350" spc="-75" dirty="0">
                <a:solidFill>
                  <a:srgbClr val="0F0F0F"/>
                </a:solidFill>
                <a:latin typeface="Arial MT"/>
                <a:cs typeface="Arial MT"/>
              </a:rPr>
              <a:t>Phase</a:t>
            </a:r>
            <a:r>
              <a:rPr sz="2350" spc="-7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50" spc="-25" dirty="0">
                <a:solidFill>
                  <a:srgbClr val="0C0C0C"/>
                </a:solidFill>
                <a:latin typeface="Arial MT"/>
                <a:cs typeface="Arial MT"/>
              </a:rPr>
              <a:t>1: </a:t>
            </a:r>
            <a:r>
              <a:rPr sz="2350" spc="-20" dirty="0">
                <a:solidFill>
                  <a:srgbClr val="0F0F0F"/>
                </a:solidFill>
                <a:latin typeface="Arial MT"/>
                <a:cs typeface="Arial MT"/>
              </a:rPr>
              <a:t>Immediate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644" y="5316361"/>
            <a:ext cx="1502410" cy="802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495">
              <a:lnSpc>
                <a:spcPts val="3035"/>
              </a:lnSpc>
              <a:spcBef>
                <a:spcPts val="135"/>
              </a:spcBef>
            </a:pPr>
            <a:r>
              <a:rPr sz="2600" spc="-120" dirty="0">
                <a:solidFill>
                  <a:srgbClr val="070707"/>
                </a:solidFill>
                <a:latin typeface="Comic Sans MS"/>
                <a:cs typeface="Comic Sans MS"/>
              </a:rPr>
              <a:t>Phase</a:t>
            </a:r>
            <a:r>
              <a:rPr sz="2600" spc="-75" dirty="0">
                <a:solidFill>
                  <a:srgbClr val="070707"/>
                </a:solidFill>
                <a:latin typeface="Comic Sans MS"/>
                <a:cs typeface="Comic Sans MS"/>
              </a:rPr>
              <a:t> </a:t>
            </a:r>
            <a:r>
              <a:rPr sz="2600" spc="-25" dirty="0">
                <a:solidFill>
                  <a:srgbClr val="0C0C0C"/>
                </a:solidFill>
                <a:latin typeface="Comic Sans MS"/>
                <a:cs typeface="Comic Sans MS"/>
              </a:rPr>
              <a:t>2: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3035"/>
              </a:lnSpc>
            </a:pPr>
            <a:r>
              <a:rPr sz="2600" spc="-90" dirty="0">
                <a:solidFill>
                  <a:srgbClr val="0E0E0E"/>
                </a:solidFill>
                <a:latin typeface="Arial MT"/>
                <a:cs typeface="Arial MT"/>
              </a:rPr>
              <a:t>Short</a:t>
            </a:r>
            <a:r>
              <a:rPr sz="2600" spc="-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600" spc="-210" dirty="0">
                <a:solidFill>
                  <a:srgbClr val="0F0F0F"/>
                </a:solidFill>
                <a:latin typeface="Arial MT"/>
                <a:cs typeface="Arial MT"/>
              </a:rPr>
              <a:t>Term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583" y="7406569"/>
            <a:ext cx="1441450" cy="764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335" marR="5080" indent="-1270">
              <a:lnSpc>
                <a:spcPct val="100699"/>
              </a:lnSpc>
              <a:spcBef>
                <a:spcPts val="110"/>
              </a:spcBef>
            </a:pPr>
            <a:r>
              <a:rPr sz="2400" spc="-50" dirty="0">
                <a:solidFill>
                  <a:srgbClr val="0E0E0E"/>
                </a:solidFill>
                <a:latin typeface="Arial MT"/>
                <a:cs typeface="Arial MT"/>
              </a:rPr>
              <a:t>Phase</a:t>
            </a:r>
            <a:r>
              <a:rPr sz="2400" spc="-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61616"/>
                </a:solidFill>
                <a:latin typeface="Arial MT"/>
                <a:cs typeface="Arial MT"/>
              </a:rPr>
              <a:t>3: </a:t>
            </a:r>
            <a:r>
              <a:rPr sz="2400" dirty="0">
                <a:solidFill>
                  <a:srgbClr val="0C0C0C"/>
                </a:solidFill>
                <a:latin typeface="Arial MT"/>
                <a:cs typeface="Arial MT"/>
              </a:rPr>
              <a:t>Long</a:t>
            </a:r>
            <a:r>
              <a:rPr sz="2400" spc="-114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0F0F0F"/>
                </a:solidFill>
                <a:latin typeface="Arial MT"/>
                <a:cs typeface="Arial MT"/>
              </a:rPr>
              <a:t>Term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6244" y="2881488"/>
            <a:ext cx="11258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0C0C0C"/>
                </a:solidFill>
                <a:latin typeface="Arial MT"/>
                <a:cs typeface="Arial MT"/>
              </a:rPr>
              <a:t>Month</a:t>
            </a:r>
            <a:r>
              <a:rPr sz="2350" spc="-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50" spc="80" dirty="0">
                <a:solidFill>
                  <a:srgbClr val="00030F"/>
                </a:solidFill>
                <a:latin typeface="Arial MT"/>
                <a:cs typeface="Arial MT"/>
              </a:rPr>
              <a:t>1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1444" y="2881488"/>
            <a:ext cx="112395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131313"/>
                </a:solidFill>
                <a:latin typeface="Arial MT"/>
                <a:cs typeface="Arial MT"/>
              </a:rPr>
              <a:t>Month</a:t>
            </a:r>
            <a:r>
              <a:rPr sz="2350" spc="2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50" spc="-90" dirty="0">
                <a:solidFill>
                  <a:srgbClr val="111111"/>
                </a:solidFill>
                <a:latin typeface="Arial MT"/>
                <a:cs typeface="Arial MT"/>
              </a:rPr>
              <a:t>2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12044" y="2881488"/>
            <a:ext cx="113919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131313"/>
                </a:solidFill>
                <a:latin typeface="Arial MT"/>
                <a:cs typeface="Arial MT"/>
              </a:rPr>
              <a:t>Month</a:t>
            </a:r>
            <a:r>
              <a:rPr sz="2350" spc="1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50" spc="25" dirty="0">
                <a:solidFill>
                  <a:srgbClr val="1F1F1F"/>
                </a:solidFill>
                <a:latin typeface="Arial MT"/>
                <a:cs typeface="Arial MT"/>
              </a:rPr>
              <a:t>3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72644" y="2881488"/>
            <a:ext cx="115316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0F0F0F"/>
                </a:solidFill>
                <a:latin typeface="Arial MT"/>
                <a:cs typeface="Arial MT"/>
              </a:rPr>
              <a:t>Month</a:t>
            </a:r>
            <a:r>
              <a:rPr sz="2350" spc="2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50" spc="65" dirty="0">
                <a:solidFill>
                  <a:srgbClr val="08152F"/>
                </a:solidFill>
                <a:latin typeface="Arial MT"/>
                <a:cs typeface="Arial MT"/>
              </a:rPr>
              <a:t>4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99981" y="5572125"/>
            <a:ext cx="216217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40" dirty="0">
                <a:solidFill>
                  <a:srgbClr val="0E0E0E"/>
                </a:solidFill>
                <a:latin typeface="Arial MT"/>
                <a:cs typeface="Arial MT"/>
              </a:rPr>
              <a:t>RICE</a:t>
            </a:r>
            <a:r>
              <a:rPr sz="1850" spc="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850" spc="55" dirty="0">
                <a:solidFill>
                  <a:srgbClr val="0A0A0A"/>
                </a:solidFill>
                <a:latin typeface="Arial MT"/>
                <a:cs typeface="Arial MT"/>
              </a:rPr>
              <a:t>#2</a:t>
            </a:r>
            <a:r>
              <a:rPr sz="1850" spc="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111111"/>
                </a:solidFill>
                <a:latin typeface="Arial MT"/>
                <a:cs typeface="Arial MT"/>
              </a:rPr>
              <a:t>-</a:t>
            </a:r>
            <a:r>
              <a:rPr sz="185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0F0F0F"/>
                </a:solidFill>
                <a:latin typeface="Arial MT"/>
                <a:cs typeface="Arial MT"/>
              </a:rPr>
              <a:t>Quick</a:t>
            </a:r>
            <a:r>
              <a:rPr sz="1850" spc="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50" spc="-25" dirty="0">
                <a:solidFill>
                  <a:srgbClr val="131313"/>
                </a:solidFill>
                <a:latin typeface="Arial MT"/>
                <a:cs typeface="Arial MT"/>
              </a:rPr>
              <a:t>Win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33244" y="2881488"/>
            <a:ext cx="113284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131313"/>
                </a:solidFill>
                <a:latin typeface="Arial MT"/>
                <a:cs typeface="Arial MT"/>
              </a:rPr>
              <a:t>Month</a:t>
            </a:r>
            <a:r>
              <a:rPr sz="2350" spc="3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50" spc="-9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93850" y="2881488"/>
            <a:ext cx="11385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111111"/>
                </a:solidFill>
                <a:latin typeface="Arial MT"/>
                <a:cs typeface="Arial MT"/>
              </a:rPr>
              <a:t>Month</a:t>
            </a:r>
            <a:r>
              <a:rPr sz="2350" spc="2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50" spc="-50" dirty="0">
                <a:solidFill>
                  <a:srgbClr val="13233D"/>
                </a:solidFill>
                <a:latin typeface="Arial MT"/>
                <a:cs typeface="Arial MT"/>
              </a:rPr>
              <a:t>6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58696" y="7108825"/>
            <a:ext cx="257810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165" dirty="0">
                <a:solidFill>
                  <a:srgbClr val="0E0E0E"/>
                </a:solidFill>
                <a:latin typeface="Arial MT"/>
                <a:cs typeface="Arial MT"/>
              </a:rPr>
              <a:t>@</a:t>
            </a:r>
            <a:r>
              <a:rPr sz="1850" spc="-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850" spc="-100" dirty="0">
                <a:solidFill>
                  <a:srgbClr val="0E0E0E"/>
                </a:solidFill>
                <a:latin typeface="Arial MT"/>
                <a:cs typeface="Arial MT"/>
              </a:rPr>
              <a:t>RICE</a:t>
            </a:r>
            <a:r>
              <a:rPr sz="1850" spc="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850" spc="100" dirty="0">
                <a:solidFill>
                  <a:srgbClr val="161616"/>
                </a:solidFill>
                <a:latin typeface="Arial MT"/>
                <a:cs typeface="Arial MT"/>
              </a:rPr>
              <a:t>#3</a:t>
            </a:r>
            <a:r>
              <a:rPr sz="1850" spc="4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50" spc="65" dirty="0">
                <a:solidFill>
                  <a:srgbClr val="131313"/>
                </a:solidFill>
                <a:latin typeface="Arial MT"/>
                <a:cs typeface="Arial MT"/>
              </a:rPr>
              <a:t>-</a:t>
            </a:r>
            <a:r>
              <a:rPr sz="1850" spc="-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0A0A0A"/>
                </a:solidFill>
                <a:latin typeface="Arial MT"/>
                <a:cs typeface="Arial MT"/>
              </a:rPr>
              <a:t>High</a:t>
            </a:r>
            <a:r>
              <a:rPr sz="1850" spc="8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850" spc="-20" dirty="0">
                <a:solidFill>
                  <a:srgbClr val="0C0C0C"/>
                </a:solidFill>
                <a:latin typeface="Arial MT"/>
                <a:cs typeface="Arial MT"/>
              </a:rPr>
              <a:t>Value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45514" y="8166805"/>
            <a:ext cx="243205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155" dirty="0">
                <a:solidFill>
                  <a:srgbClr val="0F0F0F"/>
                </a:solidFill>
                <a:latin typeface="Arial MT"/>
                <a:cs typeface="Arial MT"/>
              </a:rPr>
              <a:t>@</a:t>
            </a:r>
            <a:r>
              <a:rPr sz="1950" spc="-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070707"/>
                </a:solidFill>
                <a:latin typeface="Arial MT"/>
                <a:cs typeface="Arial MT"/>
              </a:rPr>
              <a:t>Strategic</a:t>
            </a:r>
            <a:r>
              <a:rPr sz="1950" spc="35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1950" spc="-35" dirty="0">
                <a:solidFill>
                  <a:srgbClr val="0F0F0F"/>
                </a:solidFill>
                <a:latin typeface="Arial MT"/>
                <a:cs typeface="Arial MT"/>
              </a:rPr>
              <a:t>Necessity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200" y="2679700"/>
            <a:ext cx="2705100" cy="2705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8700" y="2679700"/>
            <a:ext cx="2717800" cy="2705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73000" y="2679700"/>
            <a:ext cx="2705100" cy="27051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36467" y="689680"/>
            <a:ext cx="11417300" cy="798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50" dirty="0">
                <a:solidFill>
                  <a:srgbClr val="082646"/>
                </a:solidFill>
              </a:rPr>
              <a:t>Executive</a:t>
            </a:r>
            <a:r>
              <a:rPr sz="5050" spc="340" dirty="0">
                <a:solidFill>
                  <a:srgbClr val="082646"/>
                </a:solidFill>
              </a:rPr>
              <a:t> </a:t>
            </a:r>
            <a:r>
              <a:rPr sz="5050" dirty="0">
                <a:solidFill>
                  <a:srgbClr val="052341"/>
                </a:solidFill>
              </a:rPr>
              <a:t>Summary</a:t>
            </a:r>
            <a:r>
              <a:rPr sz="5050" spc="280" dirty="0">
                <a:solidFill>
                  <a:srgbClr val="052341"/>
                </a:solidFill>
              </a:rPr>
              <a:t> </a:t>
            </a:r>
            <a:r>
              <a:rPr sz="5050" spc="-140" dirty="0">
                <a:solidFill>
                  <a:srgbClr val="072344"/>
                </a:solidFill>
              </a:rPr>
              <a:t>&amp;</a:t>
            </a:r>
            <a:r>
              <a:rPr sz="5050" spc="-235" dirty="0">
                <a:solidFill>
                  <a:srgbClr val="072344"/>
                </a:solidFill>
              </a:rPr>
              <a:t> </a:t>
            </a:r>
            <a:r>
              <a:rPr sz="5050" spc="50" dirty="0">
                <a:solidFill>
                  <a:srgbClr val="052444"/>
                </a:solidFill>
              </a:rPr>
              <a:t>Success</a:t>
            </a:r>
            <a:r>
              <a:rPr sz="5050" spc="90" dirty="0">
                <a:solidFill>
                  <a:srgbClr val="052444"/>
                </a:solidFill>
              </a:rPr>
              <a:t> </a:t>
            </a:r>
            <a:r>
              <a:rPr sz="5050" spc="85" dirty="0">
                <a:solidFill>
                  <a:srgbClr val="07213B"/>
                </a:solidFill>
              </a:rPr>
              <a:t>Criteria</a:t>
            </a:r>
            <a:endParaRPr sz="5050"/>
          </a:p>
        </p:txBody>
      </p:sp>
      <p:sp>
        <p:nvSpPr>
          <p:cNvPr id="13" name="object 13"/>
          <p:cNvSpPr txBox="1"/>
          <p:nvPr/>
        </p:nvSpPr>
        <p:spPr>
          <a:xfrm>
            <a:off x="2608322" y="1987197"/>
            <a:ext cx="6760209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5130" algn="l"/>
              </a:tabLst>
            </a:pPr>
            <a:r>
              <a:rPr sz="3300" spc="60" dirty="0">
                <a:solidFill>
                  <a:srgbClr val="0C2441"/>
                </a:solidFill>
                <a:latin typeface="Arial MT"/>
                <a:cs typeface="Arial MT"/>
              </a:rPr>
              <a:t>Retention</a:t>
            </a:r>
            <a:r>
              <a:rPr sz="3300" dirty="0">
                <a:solidFill>
                  <a:srgbClr val="0C2441"/>
                </a:solidFill>
                <a:latin typeface="Arial MT"/>
                <a:cs typeface="Arial MT"/>
              </a:rPr>
              <a:t>	</a:t>
            </a:r>
            <a:r>
              <a:rPr sz="3400" spc="-10" dirty="0">
                <a:solidFill>
                  <a:srgbClr val="07213B"/>
                </a:solidFill>
                <a:latin typeface="Arial MT"/>
                <a:cs typeface="Arial MT"/>
              </a:rPr>
              <a:t>Rating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3775" y="5645502"/>
            <a:ext cx="4021454" cy="9105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525145" marR="5080" indent="-513080">
              <a:lnSpc>
                <a:spcPts val="3550"/>
              </a:lnSpc>
              <a:spcBef>
                <a:spcPts val="65"/>
              </a:spcBef>
            </a:pPr>
            <a:r>
              <a:rPr sz="2850" spc="-40" dirty="0">
                <a:latin typeface="Arial MT"/>
                <a:cs typeface="Arial MT"/>
              </a:rPr>
              <a:t>Increase</a:t>
            </a:r>
            <a:r>
              <a:rPr sz="2850" spc="15" dirty="0">
                <a:latin typeface="Arial MT"/>
                <a:cs typeface="Arial MT"/>
              </a:rPr>
              <a:t> </a:t>
            </a:r>
            <a:r>
              <a:rPr sz="2850" spc="-75" dirty="0">
                <a:latin typeface="Arial MT"/>
                <a:cs typeface="Arial MT"/>
              </a:rPr>
              <a:t>Day-</a:t>
            </a:r>
            <a:r>
              <a:rPr sz="2850" dirty="0">
                <a:latin typeface="Arial MT"/>
                <a:cs typeface="Arial MT"/>
              </a:rPr>
              <a:t>7</a:t>
            </a:r>
            <a:r>
              <a:rPr sz="2850" spc="-100" dirty="0">
                <a:latin typeface="Arial MT"/>
                <a:cs typeface="Arial MT"/>
              </a:rPr>
              <a:t> </a:t>
            </a:r>
            <a:r>
              <a:rPr sz="2850" spc="-30" dirty="0">
                <a:latin typeface="Arial MT"/>
                <a:cs typeface="Arial MT"/>
              </a:rPr>
              <a:t>Retention </a:t>
            </a:r>
            <a:r>
              <a:rPr sz="2850" dirty="0">
                <a:latin typeface="Arial MT"/>
                <a:cs typeface="Arial MT"/>
              </a:rPr>
              <a:t>from</a:t>
            </a:r>
            <a:r>
              <a:rPr sz="2850" spc="95" dirty="0">
                <a:latin typeface="Arial MT"/>
                <a:cs typeface="Arial MT"/>
              </a:rPr>
              <a:t> </a:t>
            </a:r>
            <a:r>
              <a:rPr sz="2850" spc="-175" dirty="0">
                <a:latin typeface="Arial MT"/>
                <a:cs typeface="Arial MT"/>
              </a:rPr>
              <a:t>22%</a:t>
            </a:r>
            <a:r>
              <a:rPr sz="2850" spc="50" dirty="0">
                <a:latin typeface="Arial MT"/>
                <a:cs typeface="Arial MT"/>
              </a:rPr>
              <a:t> </a:t>
            </a:r>
            <a:r>
              <a:rPr sz="2850" spc="55" dirty="0">
                <a:latin typeface="Arial MT"/>
                <a:cs typeface="Arial MT"/>
              </a:rPr>
              <a:t>to</a:t>
            </a:r>
            <a:r>
              <a:rPr sz="2850" spc="-6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&gt;27%.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4274" y="5645502"/>
            <a:ext cx="3792220" cy="9105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28345" marR="5080" indent="-716280">
              <a:lnSpc>
                <a:spcPts val="3550"/>
              </a:lnSpc>
              <a:spcBef>
                <a:spcPts val="65"/>
              </a:spcBef>
            </a:pPr>
            <a:r>
              <a:rPr sz="2850" spc="-20" dirty="0">
                <a:latin typeface="Arial MT"/>
                <a:cs typeface="Arial MT"/>
              </a:rPr>
              <a:t>Improve</a:t>
            </a:r>
            <a:r>
              <a:rPr sz="2850" spc="-60" dirty="0">
                <a:latin typeface="Arial MT"/>
                <a:cs typeface="Arial MT"/>
              </a:rPr>
              <a:t> </a:t>
            </a:r>
            <a:r>
              <a:rPr sz="2850" spc="-85" dirty="0">
                <a:latin typeface="Arial MT"/>
                <a:cs typeface="Arial MT"/>
              </a:rPr>
              <a:t>Average</a:t>
            </a:r>
            <a:r>
              <a:rPr sz="2850" spc="-114" dirty="0">
                <a:latin typeface="Arial MT"/>
                <a:cs typeface="Arial MT"/>
              </a:rPr>
              <a:t> </a:t>
            </a:r>
            <a:r>
              <a:rPr sz="2850" spc="-45" dirty="0">
                <a:latin typeface="Arial MT"/>
                <a:cs typeface="Arial MT"/>
              </a:rPr>
              <a:t>Rating </a:t>
            </a:r>
            <a:r>
              <a:rPr sz="2850" dirty="0">
                <a:latin typeface="Arial MT"/>
                <a:cs typeface="Arial MT"/>
              </a:rPr>
              <a:t>from</a:t>
            </a:r>
            <a:r>
              <a:rPr sz="2850" spc="80" dirty="0">
                <a:latin typeface="Arial MT"/>
                <a:cs typeface="Arial MT"/>
              </a:rPr>
              <a:t> </a:t>
            </a:r>
            <a:r>
              <a:rPr sz="2850" spc="-210" dirty="0">
                <a:latin typeface="Arial MT"/>
                <a:cs typeface="Arial MT"/>
              </a:rPr>
              <a:t>4.1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spc="55" dirty="0">
                <a:latin typeface="Arial MT"/>
                <a:cs typeface="Arial MT"/>
              </a:rPr>
              <a:t>to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4.4.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72769" y="1996016"/>
            <a:ext cx="145796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90" dirty="0">
                <a:solidFill>
                  <a:srgbClr val="0A2844"/>
                </a:solidFill>
                <a:latin typeface="Arial MT"/>
                <a:cs typeface="Arial MT"/>
              </a:rPr>
              <a:t>Growth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22564" y="5634213"/>
            <a:ext cx="3759200" cy="92519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18465" marR="5080" indent="-406400">
              <a:lnSpc>
                <a:spcPts val="3500"/>
              </a:lnSpc>
              <a:spcBef>
                <a:spcPts val="280"/>
              </a:spcBef>
            </a:pPr>
            <a:r>
              <a:rPr sz="2950" spc="-105" dirty="0">
                <a:latin typeface="Arial MT"/>
                <a:cs typeface="Arial MT"/>
              </a:rPr>
              <a:t>Scale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MAU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beyond</a:t>
            </a:r>
            <a:r>
              <a:rPr sz="2950" spc="-140" dirty="0">
                <a:latin typeface="Arial MT"/>
                <a:cs typeface="Arial MT"/>
              </a:rPr>
              <a:t> 60K </a:t>
            </a:r>
            <a:r>
              <a:rPr sz="2950" spc="-35" dirty="0">
                <a:latin typeface="Arial MT"/>
                <a:cs typeface="Arial MT"/>
              </a:rPr>
              <a:t>via</a:t>
            </a:r>
            <a:r>
              <a:rPr sz="2950" spc="-175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reduced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churn.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5BABBB-6038-B657-DD4C-24B11D6C1C99}"/>
              </a:ext>
            </a:extLst>
          </p:cNvPr>
          <p:cNvSpPr/>
          <p:nvPr/>
        </p:nvSpPr>
        <p:spPr>
          <a:xfrm>
            <a:off x="279400" y="7467600"/>
            <a:ext cx="16687800" cy="156527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bject 18"/>
          <p:cNvSpPr txBox="1"/>
          <p:nvPr/>
        </p:nvSpPr>
        <p:spPr>
          <a:xfrm>
            <a:off x="758820" y="7379985"/>
            <a:ext cx="15922625" cy="1565275"/>
          </a:xfrm>
          <a:prstGeom prst="rect">
            <a:avLst/>
          </a:prstGeom>
        </p:spPr>
        <p:txBody>
          <a:bodyPr vert="horz" wrap="square" lIns="0" tIns="31623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490"/>
              </a:spcBef>
            </a:pPr>
            <a:r>
              <a:rPr sz="3550" spc="110" dirty="0">
                <a:solidFill>
                  <a:schemeClr val="bg1"/>
                </a:solidFill>
                <a:latin typeface="Arial MT"/>
                <a:cs typeface="Arial MT"/>
              </a:rPr>
              <a:t>Recommendation:</a:t>
            </a:r>
            <a:r>
              <a:rPr sz="3550" spc="-3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spc="90" dirty="0">
                <a:solidFill>
                  <a:schemeClr val="bg1"/>
                </a:solidFill>
                <a:latin typeface="Arial MT"/>
                <a:cs typeface="Arial MT"/>
              </a:rPr>
              <a:t>Approve</a:t>
            </a:r>
            <a:r>
              <a:rPr sz="355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spc="100" dirty="0">
                <a:solidFill>
                  <a:schemeClr val="bg1"/>
                </a:solidFill>
                <a:latin typeface="Arial MT"/>
                <a:cs typeface="Arial MT"/>
              </a:rPr>
              <a:t>immediate</a:t>
            </a:r>
            <a:r>
              <a:rPr sz="3550" spc="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spc="105" dirty="0">
                <a:solidFill>
                  <a:schemeClr val="bg1"/>
                </a:solidFill>
                <a:latin typeface="Arial MT"/>
                <a:cs typeface="Arial MT"/>
              </a:rPr>
              <a:t>deployment</a:t>
            </a:r>
            <a:r>
              <a:rPr sz="3550" spc="3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spc="13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355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dirty="0">
                <a:solidFill>
                  <a:schemeClr val="bg1"/>
                </a:solidFill>
                <a:latin typeface="Arial MT"/>
                <a:cs typeface="Arial MT"/>
              </a:rPr>
              <a:t>Rest</a:t>
            </a:r>
            <a:r>
              <a:rPr sz="3550" spc="70" dirty="0">
                <a:solidFill>
                  <a:schemeClr val="bg1"/>
                </a:solidFill>
                <a:latin typeface="Arial MT"/>
                <a:cs typeface="Arial MT"/>
              </a:rPr>
              <a:t> Timer</a:t>
            </a:r>
            <a:r>
              <a:rPr sz="3550" spc="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spc="70" dirty="0">
                <a:solidFill>
                  <a:schemeClr val="bg1"/>
                </a:solidFill>
                <a:latin typeface="Arial MT"/>
                <a:cs typeface="Arial MT"/>
              </a:rPr>
              <a:t>A/B</a:t>
            </a:r>
            <a:r>
              <a:rPr sz="3550" spc="-1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550" spc="45" dirty="0">
                <a:solidFill>
                  <a:schemeClr val="bg1"/>
                </a:solidFill>
                <a:latin typeface="Arial MT"/>
                <a:cs typeface="Arial MT"/>
              </a:rPr>
              <a:t>Test.</a:t>
            </a:r>
            <a:endParaRPr sz="35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90"/>
              </a:spcBef>
            </a:pPr>
            <a:r>
              <a:rPr sz="2900" spc="-60" dirty="0">
                <a:solidFill>
                  <a:schemeClr val="bg1"/>
                </a:solidFill>
                <a:latin typeface="Arial MT"/>
                <a:cs typeface="Arial MT"/>
              </a:rPr>
              <a:t>Data</a:t>
            </a:r>
            <a:r>
              <a:rPr sz="29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confirms</a:t>
            </a:r>
            <a:r>
              <a:rPr sz="2900" spc="-2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35" dirty="0">
                <a:solidFill>
                  <a:schemeClr val="bg1"/>
                </a:solidFill>
                <a:latin typeface="Arial MT"/>
                <a:cs typeface="Arial MT"/>
              </a:rPr>
              <a:t>users</a:t>
            </a:r>
            <a:r>
              <a:rPr sz="2900" spc="-1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40" dirty="0">
                <a:solidFill>
                  <a:schemeClr val="bg1"/>
                </a:solidFill>
                <a:latin typeface="Arial MT"/>
                <a:cs typeface="Arial MT"/>
              </a:rPr>
              <a:t>love</a:t>
            </a:r>
            <a:r>
              <a:rPr sz="29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20" dirty="0">
                <a:solidFill>
                  <a:schemeClr val="bg1"/>
                </a:solidFill>
                <a:latin typeface="Arial MT"/>
                <a:cs typeface="Arial MT"/>
              </a:rPr>
              <a:t>core</a:t>
            </a:r>
            <a:r>
              <a:rPr sz="2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tracking</a:t>
            </a:r>
            <a:r>
              <a:rPr sz="290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but</a:t>
            </a:r>
            <a:r>
              <a:rPr sz="29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need</a:t>
            </a:r>
            <a:r>
              <a:rPr sz="2900" spc="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chemeClr val="bg1"/>
                </a:solidFill>
                <a:latin typeface="Arial MT"/>
                <a:cs typeface="Arial MT"/>
              </a:rPr>
              <a:t>workflow</a:t>
            </a:r>
            <a:r>
              <a:rPr sz="2900" spc="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tools.</a:t>
            </a:r>
            <a:r>
              <a:rPr sz="2900" spc="-1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55" dirty="0">
                <a:solidFill>
                  <a:schemeClr val="bg1"/>
                </a:solidFill>
                <a:latin typeface="Arial MT"/>
                <a:cs typeface="Arial MT"/>
              </a:rPr>
              <a:t>This</a:t>
            </a:r>
            <a:r>
              <a:rPr sz="29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2900" spc="-2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900" spc="-1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chemeClr val="bg1"/>
                </a:solidFill>
                <a:latin typeface="Arial MT"/>
                <a:cs typeface="Arial MT"/>
              </a:rPr>
              <a:t>highest</a:t>
            </a:r>
            <a:r>
              <a:rPr sz="2900" spc="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300" dirty="0">
                <a:solidFill>
                  <a:schemeClr val="bg1"/>
                </a:solidFill>
                <a:latin typeface="Arial MT"/>
                <a:cs typeface="Arial MT"/>
              </a:rPr>
              <a:t>ROI</a:t>
            </a:r>
            <a:r>
              <a:rPr sz="2900" spc="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chemeClr val="bg1"/>
                </a:solidFill>
                <a:latin typeface="Arial MT"/>
                <a:cs typeface="Arial MT"/>
              </a:rPr>
              <a:t>intervention.</a:t>
            </a:r>
            <a:endParaRPr sz="29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694</Words>
  <Application>Microsoft Office PowerPoint</Application>
  <PresentationFormat>Custom</PresentationFormat>
  <Paragraphs>180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MT</vt:lpstr>
      <vt:lpstr>Cambria</vt:lpstr>
      <vt:lpstr>Comic Sans MS</vt:lpstr>
      <vt:lpstr>Consolas</vt:lpstr>
      <vt:lpstr>Courier New</vt:lpstr>
      <vt:lpstr>Office Theme</vt:lpstr>
      <vt:lpstr>Product Sentiment</vt:lpstr>
      <vt:lpstr>High Acquisition, Low Retention: The ’Leaky Bucket’ Challenge</vt:lpstr>
      <vt:lpstr>From Raw Text to Quantifiable Strategy</vt:lpstr>
      <vt:lpstr>Overall Satisfaction Masks Specific, Actionable Dissatisfaction</vt:lpstr>
      <vt:lpstr>Feature Sentiment: Core Tracking Wins, Connectivity Fails</vt:lpstr>
      <vt:lpstr>Emotional Drivers: Trust Drives Retention, Technical Failures Trigger Anger</vt:lpstr>
      <vt:lpstr>The Ask' Gap: What Users Are Explicitly Requesting</vt:lpstr>
      <vt:lpstr>RICE Prioritization: Identifying the High-Impact “Quick Win” Rest Timer selected for max impact with min Effort.</vt:lpstr>
      <vt:lpstr>Milestone</vt:lpstr>
      <vt:lpstr>PowerPoint Presentation</vt:lpstr>
      <vt:lpstr>Post-Test Product Roadmap: 6-Month Outlook</vt:lpstr>
      <vt:lpstr>Executive Summary &amp; 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Mr. Drago</dc:creator>
  <cp:lastModifiedBy>MINTU KUMAR</cp:lastModifiedBy>
  <cp:revision>1</cp:revision>
  <dcterms:created xsi:type="dcterms:W3CDTF">2026-02-15T19:13:00Z</dcterms:created>
  <dcterms:modified xsi:type="dcterms:W3CDTF">2026-02-15T19:23:13Z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LastSaved">
    <vt:filetime>2026-02-15T00:00:00Z</vt:filetime>
  </property>
</Properties>
</file>